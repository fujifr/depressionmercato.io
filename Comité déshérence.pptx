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comments/modernComment_108_F511175A.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60" r:id="rId2"/>
    <p:sldId id="272" r:id="rId3"/>
    <p:sldId id="264" r:id="rId4"/>
    <p:sldId id="465" r:id="rId5"/>
    <p:sldId id="466" r:id="rId6"/>
    <p:sldId id="257" r:id="rId7"/>
    <p:sldId id="448" r:id="rId8"/>
    <p:sldId id="261" r:id="rId9"/>
    <p:sldId id="259" r:id="rId10"/>
    <p:sldId id="260" r:id="rId11"/>
    <p:sldId id="461" r:id="rId12"/>
    <p:sldId id="462" r:id="rId13"/>
    <p:sldId id="463" r:id="rId14"/>
    <p:sldId id="262" r:id="rId15"/>
    <p:sldId id="263" r:id="rId16"/>
    <p:sldId id="431" r:id="rId17"/>
    <p:sldId id="464" r:id="rId18"/>
    <p:sldId id="298"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F3E9498-1742-4D21-BF19-7F66C54FF829}" name="WILFRID Adrien" initials="AW" userId="S::Adrien.WILFRID@ag2rlamondiale.fr::aa5b8b72-d6bb-463a-bac4-7871de0dfd2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20714"/>
    <a:srgbClr val="005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11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omments/modernComment_108_F511175A.xml><?xml version="1.0" encoding="utf-8"?>
<p188:cmLst xmlns:a="http://schemas.openxmlformats.org/drawingml/2006/main" xmlns:r="http://schemas.openxmlformats.org/officeDocument/2006/relationships" xmlns:p188="http://schemas.microsoft.com/office/powerpoint/2018/8/main">
  <p188:cm id="{CE5CD708-08B5-4109-8E84-4E7BCBD1996B}" authorId="{8F3E9498-1742-4D21-BF19-7F66C54FF829}" created="2026-06-08T14:26:36.152">
    <ac:deMkLst xmlns:ac="http://schemas.microsoft.com/office/drawing/2013/main/command">
      <pc:docMk xmlns:pc="http://schemas.microsoft.com/office/powerpoint/2013/main/command"/>
      <pc:sldMk xmlns:pc="http://schemas.microsoft.com/office/powerpoint/2013/main/command" cId="4111538010" sldId="264"/>
      <ac:spMk id="3" creationId="{A76B0857-C73C-BB1A-3BFA-7ED3268EDDBF}"/>
    </ac:deMkLst>
    <p188:txBody>
      <a:bodyPr/>
      <a:lstStyle/>
      <a:p>
        <a:r>
          <a:rPr lang="fr-FR"/>
          <a:t>Frederique va présenter</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image" Target="../media/image20.jpg"/></Relationships>
</file>

<file path=ppt/diagrams/_rels/drawing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image" Target="../media/image20.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FCB8C5-F36F-443F-8A34-9E60BCDB092A}" type="doc">
      <dgm:prSet loTypeId="urn:microsoft.com/office/officeart/2008/layout/HexagonCluster" loCatId="relationship" qsTypeId="urn:microsoft.com/office/officeart/2005/8/quickstyle/simple1" qsCatId="simple" csTypeId="urn:microsoft.com/office/officeart/2005/8/colors/accent1_2" csCatId="accent1" phldr="1"/>
      <dgm:spPr/>
      <dgm:t>
        <a:bodyPr/>
        <a:lstStyle/>
        <a:p>
          <a:endParaRPr lang="fr-FR"/>
        </a:p>
      </dgm:t>
    </dgm:pt>
    <dgm:pt modelId="{5E6948BC-480C-4B0E-AF29-18274D14718A}">
      <dgm:prSet phldrT="[Texte]"/>
      <dgm:spPr/>
      <dgm:t>
        <a:bodyPr/>
        <a:lstStyle/>
        <a:p>
          <a:pPr>
            <a:buNone/>
          </a:pPr>
          <a:r>
            <a:rPr lang="fr-FR" dirty="0">
              <a:effectLst/>
            </a:rPr>
            <a:t>Dossiers actuellement confiés à des prestataires de recherche des bénéficiaires en %</a:t>
          </a:r>
          <a:endParaRPr lang="fr-FR" dirty="0"/>
        </a:p>
      </dgm:t>
    </dgm:pt>
    <dgm:pt modelId="{60CB9319-7957-4CAF-B506-AA3214DDDA3F}" type="parTrans" cxnId="{2AD33E2A-5CE6-4F56-88A9-1141069745B6}">
      <dgm:prSet/>
      <dgm:spPr/>
      <dgm:t>
        <a:bodyPr/>
        <a:lstStyle/>
        <a:p>
          <a:endParaRPr lang="fr-FR"/>
        </a:p>
      </dgm:t>
    </dgm:pt>
    <dgm:pt modelId="{4DEE68CC-59D7-42DA-B20D-187596EC9BCA}" type="sibTrans" cxnId="{2AD33E2A-5CE6-4F56-88A9-1141069745B6}">
      <dgm:prSet/>
      <dgm:spPr>
        <a:blipFill>
          <a:blip xmlns:r="http://schemas.openxmlformats.org/officeDocument/2006/relationships" r:embed="rId1"/>
          <a:srcRect/>
          <a:stretch>
            <a:fillRect l="-14000" r="-14000"/>
          </a:stretch>
        </a:blipFill>
      </dgm:spPr>
      <dgm:t>
        <a:bodyPr/>
        <a:lstStyle/>
        <a:p>
          <a:endParaRPr lang="fr-FR"/>
        </a:p>
      </dgm:t>
    </dgm:pt>
    <dgm:pt modelId="{9E0546F6-9B5D-4686-9202-AE60A9B90B82}">
      <dgm:prSet phldrT="[Texte]" phldr="0"/>
      <dgm:spPr/>
      <dgm:t>
        <a:bodyPr/>
        <a:lstStyle/>
        <a:p>
          <a:pPr>
            <a:buNone/>
          </a:pPr>
          <a:r>
            <a:rPr lang="fr-FR" dirty="0">
              <a:effectLst/>
            </a:rPr>
            <a:t>Dossiers hors délais pour l'envoi de la lettre d'obtention des pièces justificatives en %</a:t>
          </a:r>
          <a:endParaRPr lang="fr-FR" dirty="0"/>
        </a:p>
      </dgm:t>
    </dgm:pt>
    <dgm:pt modelId="{AD299A2E-AC4A-43B7-8451-3A6A14F580D4}" type="parTrans" cxnId="{0A3C2C4F-2948-45AB-A2B2-7AB7F65F9C6F}">
      <dgm:prSet/>
      <dgm:spPr/>
      <dgm:t>
        <a:bodyPr/>
        <a:lstStyle/>
        <a:p>
          <a:endParaRPr lang="fr-FR"/>
        </a:p>
      </dgm:t>
    </dgm:pt>
    <dgm:pt modelId="{5FCE2EAA-C0E2-4258-B116-8DEE66B3B664}" type="sibTrans" cxnId="{0A3C2C4F-2948-45AB-A2B2-7AB7F65F9C6F}">
      <dgm:prSet/>
      <dgm:spPr/>
      <dgm:t>
        <a:bodyPr/>
        <a:lstStyle/>
        <a:p>
          <a:endParaRPr lang="fr-FR"/>
        </a:p>
      </dgm:t>
    </dgm:pt>
    <dgm:pt modelId="{56D17AE9-22DB-4659-93AF-149BE84C564E}">
      <dgm:prSet phldrT="[Texte]" phldr="0"/>
      <dgm:spPr/>
      <dgm:t>
        <a:bodyPr/>
        <a:lstStyle/>
        <a:p>
          <a:pPr>
            <a:buNone/>
          </a:pPr>
          <a:r>
            <a:rPr lang="fr-FR" dirty="0">
              <a:effectLst/>
            </a:rPr>
            <a:t>Nb de demandes reçues en N de l'AGIRA (AGIRA 1) pour lesquels le décès de l'assuré était déjà connu</a:t>
          </a:r>
          <a:endParaRPr lang="fr-FR" dirty="0"/>
        </a:p>
      </dgm:t>
    </dgm:pt>
    <dgm:pt modelId="{1216B4DD-2A5A-40FF-A5C8-8060CD7C5AAE}" type="parTrans" cxnId="{94CE0819-272C-492A-BFE5-220D2CDFA997}">
      <dgm:prSet/>
      <dgm:spPr/>
      <dgm:t>
        <a:bodyPr/>
        <a:lstStyle/>
        <a:p>
          <a:endParaRPr lang="fr-FR"/>
        </a:p>
      </dgm:t>
    </dgm:pt>
    <dgm:pt modelId="{F1866153-CC4C-4EFB-BD37-31F900B3FC21}" type="sibTrans" cxnId="{94CE0819-272C-492A-BFE5-220D2CDFA997}">
      <dgm:prSet/>
      <dgm:spPr>
        <a:blipFill>
          <a:blip xmlns:r="http://schemas.openxmlformats.org/officeDocument/2006/relationships" r:embed="rId2"/>
          <a:srcRect/>
          <a:stretch>
            <a:fillRect l="-26000" r="-26000"/>
          </a:stretch>
        </a:blipFill>
      </dgm:spPr>
      <dgm:t>
        <a:bodyPr/>
        <a:lstStyle/>
        <a:p>
          <a:endParaRPr lang="fr-FR"/>
        </a:p>
      </dgm:t>
    </dgm:pt>
    <dgm:pt modelId="{E389BA5D-5FDC-4A24-B560-63653F931CF1}">
      <dgm:prSet phldrT="[Texte]" phldr="0"/>
      <dgm:spPr/>
      <dgm:t>
        <a:bodyPr/>
        <a:lstStyle/>
        <a:p>
          <a:pPr>
            <a:buNone/>
          </a:pPr>
          <a:r>
            <a:rPr lang="fr-FR" dirty="0">
              <a:effectLst/>
            </a:rPr>
            <a:t>Nb et </a:t>
          </a:r>
          <a:r>
            <a:rPr lang="fr-FR" dirty="0" err="1">
              <a:effectLst/>
            </a:rPr>
            <a:t>tx</a:t>
          </a:r>
          <a:r>
            <a:rPr lang="fr-FR" dirty="0">
              <a:effectLst/>
            </a:rPr>
            <a:t> de retour de clients en PND</a:t>
          </a:r>
          <a:endParaRPr lang="fr-FR" dirty="0"/>
        </a:p>
      </dgm:t>
    </dgm:pt>
    <dgm:pt modelId="{F8FAF3FE-7758-4399-9CA5-9F72EB2C7D02}" type="parTrans" cxnId="{BA61423C-65E0-4336-A8AE-0C41F48A80F7}">
      <dgm:prSet/>
      <dgm:spPr/>
      <dgm:t>
        <a:bodyPr/>
        <a:lstStyle/>
        <a:p>
          <a:endParaRPr lang="fr-FR"/>
        </a:p>
      </dgm:t>
    </dgm:pt>
    <dgm:pt modelId="{CD15E858-1992-4FA3-A874-F02B010A97C1}" type="sibTrans" cxnId="{BA61423C-65E0-4336-A8AE-0C41F48A80F7}">
      <dgm:prSet/>
      <dgm:spPr>
        <a:blipFill>
          <a:blip xmlns:r="http://schemas.openxmlformats.org/officeDocument/2006/relationships" r:embed="rId3"/>
          <a:srcRect/>
          <a:stretch>
            <a:fillRect t="-37000" b="-37000"/>
          </a:stretch>
        </a:blipFill>
      </dgm:spPr>
      <dgm:t>
        <a:bodyPr/>
        <a:lstStyle/>
        <a:p>
          <a:endParaRPr lang="fr-FR"/>
        </a:p>
      </dgm:t>
    </dgm:pt>
    <dgm:pt modelId="{A7A67AA6-FB21-48D3-930F-5D4AD538E1C8}" type="pres">
      <dgm:prSet presAssocID="{42FCB8C5-F36F-443F-8A34-9E60BCDB092A}" presName="Name0" presStyleCnt="0">
        <dgm:presLayoutVars>
          <dgm:chMax val="21"/>
          <dgm:chPref val="21"/>
        </dgm:presLayoutVars>
      </dgm:prSet>
      <dgm:spPr/>
    </dgm:pt>
    <dgm:pt modelId="{2F08185B-D0AC-4EAD-98E7-BEADA4EE35EC}" type="pres">
      <dgm:prSet presAssocID="{5E6948BC-480C-4B0E-AF29-18274D14718A}" presName="text1" presStyleCnt="0"/>
      <dgm:spPr/>
    </dgm:pt>
    <dgm:pt modelId="{53F9A7B2-7A9A-408C-BA27-A8C3F717B677}" type="pres">
      <dgm:prSet presAssocID="{5E6948BC-480C-4B0E-AF29-18274D14718A}" presName="textRepeatNode" presStyleLbl="alignNode1" presStyleIdx="0" presStyleCnt="4">
        <dgm:presLayoutVars>
          <dgm:chMax val="0"/>
          <dgm:chPref val="0"/>
          <dgm:bulletEnabled val="1"/>
        </dgm:presLayoutVars>
      </dgm:prSet>
      <dgm:spPr/>
    </dgm:pt>
    <dgm:pt modelId="{D6D443B8-9236-465A-A71E-2408AE62EF06}" type="pres">
      <dgm:prSet presAssocID="{5E6948BC-480C-4B0E-AF29-18274D14718A}" presName="textaccent1" presStyleCnt="0"/>
      <dgm:spPr/>
    </dgm:pt>
    <dgm:pt modelId="{6D3A59CD-4DB6-481F-9C65-380235AFC6A2}" type="pres">
      <dgm:prSet presAssocID="{5E6948BC-480C-4B0E-AF29-18274D14718A}" presName="accentRepeatNode" presStyleLbl="solidAlignAcc1" presStyleIdx="0" presStyleCnt="8"/>
      <dgm:spPr/>
    </dgm:pt>
    <dgm:pt modelId="{B2FB9FE3-0E79-4F8F-B127-FB075F7F38DB}" type="pres">
      <dgm:prSet presAssocID="{4DEE68CC-59D7-42DA-B20D-187596EC9BCA}" presName="image1" presStyleCnt="0"/>
      <dgm:spPr/>
    </dgm:pt>
    <dgm:pt modelId="{327A67DD-AB71-4340-A460-E847429B767B}" type="pres">
      <dgm:prSet presAssocID="{4DEE68CC-59D7-42DA-B20D-187596EC9BCA}" presName="imageRepeatNode" presStyleLbl="alignAcc1" presStyleIdx="0" presStyleCnt="4"/>
      <dgm:spPr/>
    </dgm:pt>
    <dgm:pt modelId="{7837195C-22A8-4F30-BAB1-70526E02FFCE}" type="pres">
      <dgm:prSet presAssocID="{4DEE68CC-59D7-42DA-B20D-187596EC9BCA}" presName="imageaccent1" presStyleCnt="0"/>
      <dgm:spPr/>
    </dgm:pt>
    <dgm:pt modelId="{CCC4E11D-B9A6-427B-838C-9B2A7C3B0D24}" type="pres">
      <dgm:prSet presAssocID="{4DEE68CC-59D7-42DA-B20D-187596EC9BCA}" presName="accentRepeatNode" presStyleLbl="solidAlignAcc1" presStyleIdx="1" presStyleCnt="8"/>
      <dgm:spPr/>
    </dgm:pt>
    <dgm:pt modelId="{B75325C3-E3B8-432B-8510-1A73350F46DF}" type="pres">
      <dgm:prSet presAssocID="{9E0546F6-9B5D-4686-9202-AE60A9B90B82}" presName="text2" presStyleCnt="0"/>
      <dgm:spPr/>
    </dgm:pt>
    <dgm:pt modelId="{F967A6E7-EF80-451D-8B2E-3ED6CC3EAE11}" type="pres">
      <dgm:prSet presAssocID="{9E0546F6-9B5D-4686-9202-AE60A9B90B82}" presName="textRepeatNode" presStyleLbl="alignNode1" presStyleIdx="1" presStyleCnt="4">
        <dgm:presLayoutVars>
          <dgm:chMax val="0"/>
          <dgm:chPref val="0"/>
          <dgm:bulletEnabled val="1"/>
        </dgm:presLayoutVars>
      </dgm:prSet>
      <dgm:spPr/>
    </dgm:pt>
    <dgm:pt modelId="{D1CD024D-EB19-4D4C-9B44-C99FE0FD60BA}" type="pres">
      <dgm:prSet presAssocID="{9E0546F6-9B5D-4686-9202-AE60A9B90B82}" presName="textaccent2" presStyleCnt="0"/>
      <dgm:spPr/>
    </dgm:pt>
    <dgm:pt modelId="{7C6B4895-D794-4F66-9D93-7C8A2996F752}" type="pres">
      <dgm:prSet presAssocID="{9E0546F6-9B5D-4686-9202-AE60A9B90B82}" presName="accentRepeatNode" presStyleLbl="solidAlignAcc1" presStyleIdx="2" presStyleCnt="8"/>
      <dgm:spPr/>
    </dgm:pt>
    <dgm:pt modelId="{157FD9AA-28F3-4D6A-BC51-86DC2FFCCC80}" type="pres">
      <dgm:prSet presAssocID="{5FCE2EAA-C0E2-4258-B116-8DEE66B3B664}" presName="image2" presStyleCnt="0"/>
      <dgm:spPr/>
    </dgm:pt>
    <dgm:pt modelId="{28234994-37CE-4EC0-A061-786615F7DCC4}" type="pres">
      <dgm:prSet presAssocID="{5FCE2EAA-C0E2-4258-B116-8DEE66B3B664}" presName="imageRepeatNode" presStyleLbl="alignAcc1" presStyleIdx="1" presStyleCnt="4"/>
      <dgm:spPr/>
    </dgm:pt>
    <dgm:pt modelId="{748BD0F8-5FF9-4F0B-87BD-24E186FE10FC}" type="pres">
      <dgm:prSet presAssocID="{5FCE2EAA-C0E2-4258-B116-8DEE66B3B664}" presName="imageaccent2" presStyleCnt="0"/>
      <dgm:spPr/>
    </dgm:pt>
    <dgm:pt modelId="{9D530AA8-206A-48C5-A3A0-CE67E8304600}" type="pres">
      <dgm:prSet presAssocID="{5FCE2EAA-C0E2-4258-B116-8DEE66B3B664}" presName="accentRepeatNode" presStyleLbl="solidAlignAcc1" presStyleIdx="3" presStyleCnt="8"/>
      <dgm:spPr/>
    </dgm:pt>
    <dgm:pt modelId="{2A4D019F-6CB3-45BD-994F-407E470523BB}" type="pres">
      <dgm:prSet presAssocID="{56D17AE9-22DB-4659-93AF-149BE84C564E}" presName="text3" presStyleCnt="0"/>
      <dgm:spPr/>
    </dgm:pt>
    <dgm:pt modelId="{934B0944-1253-495F-AFE0-056AC9F5E5AD}" type="pres">
      <dgm:prSet presAssocID="{56D17AE9-22DB-4659-93AF-149BE84C564E}" presName="textRepeatNode" presStyleLbl="alignNode1" presStyleIdx="2" presStyleCnt="4">
        <dgm:presLayoutVars>
          <dgm:chMax val="0"/>
          <dgm:chPref val="0"/>
          <dgm:bulletEnabled val="1"/>
        </dgm:presLayoutVars>
      </dgm:prSet>
      <dgm:spPr/>
    </dgm:pt>
    <dgm:pt modelId="{BBA442EC-96CB-4601-849E-C7C53510BA74}" type="pres">
      <dgm:prSet presAssocID="{56D17AE9-22DB-4659-93AF-149BE84C564E}" presName="textaccent3" presStyleCnt="0"/>
      <dgm:spPr/>
    </dgm:pt>
    <dgm:pt modelId="{3CA9E0FE-5782-4AAA-8CC2-74E0585E91AD}" type="pres">
      <dgm:prSet presAssocID="{56D17AE9-22DB-4659-93AF-149BE84C564E}" presName="accentRepeatNode" presStyleLbl="solidAlignAcc1" presStyleIdx="4" presStyleCnt="8"/>
      <dgm:spPr/>
    </dgm:pt>
    <dgm:pt modelId="{FD477283-76EA-425D-BFD8-1F3E699D5CA1}" type="pres">
      <dgm:prSet presAssocID="{F1866153-CC4C-4EFB-BD37-31F900B3FC21}" presName="image3" presStyleCnt="0"/>
      <dgm:spPr/>
    </dgm:pt>
    <dgm:pt modelId="{20B63F93-CB65-4713-A63C-12819990B3FC}" type="pres">
      <dgm:prSet presAssocID="{F1866153-CC4C-4EFB-BD37-31F900B3FC21}" presName="imageRepeatNode" presStyleLbl="alignAcc1" presStyleIdx="2" presStyleCnt="4"/>
      <dgm:spPr/>
    </dgm:pt>
    <dgm:pt modelId="{5A0EAFE6-516F-4D44-9CAC-346834F36CB7}" type="pres">
      <dgm:prSet presAssocID="{F1866153-CC4C-4EFB-BD37-31F900B3FC21}" presName="imageaccent3" presStyleCnt="0"/>
      <dgm:spPr/>
    </dgm:pt>
    <dgm:pt modelId="{B736E687-66E1-4C64-8315-E105189ABED7}" type="pres">
      <dgm:prSet presAssocID="{F1866153-CC4C-4EFB-BD37-31F900B3FC21}" presName="accentRepeatNode" presStyleLbl="solidAlignAcc1" presStyleIdx="5" presStyleCnt="8"/>
      <dgm:spPr/>
    </dgm:pt>
    <dgm:pt modelId="{5F6717BB-4AEE-4061-A176-CA2CB29534DE}" type="pres">
      <dgm:prSet presAssocID="{E389BA5D-5FDC-4A24-B560-63653F931CF1}" presName="text4" presStyleCnt="0"/>
      <dgm:spPr/>
    </dgm:pt>
    <dgm:pt modelId="{2BB68105-8538-4679-B500-23F811E4B43B}" type="pres">
      <dgm:prSet presAssocID="{E389BA5D-5FDC-4A24-B560-63653F931CF1}" presName="textRepeatNode" presStyleLbl="alignNode1" presStyleIdx="3" presStyleCnt="4">
        <dgm:presLayoutVars>
          <dgm:chMax val="0"/>
          <dgm:chPref val="0"/>
          <dgm:bulletEnabled val="1"/>
        </dgm:presLayoutVars>
      </dgm:prSet>
      <dgm:spPr/>
    </dgm:pt>
    <dgm:pt modelId="{C85D8D78-D195-40FC-A5F1-386FE2F8810D}" type="pres">
      <dgm:prSet presAssocID="{E389BA5D-5FDC-4A24-B560-63653F931CF1}" presName="textaccent4" presStyleCnt="0"/>
      <dgm:spPr/>
    </dgm:pt>
    <dgm:pt modelId="{229D0970-A730-46F3-B26C-F63126BEB1E3}" type="pres">
      <dgm:prSet presAssocID="{E389BA5D-5FDC-4A24-B560-63653F931CF1}" presName="accentRepeatNode" presStyleLbl="solidAlignAcc1" presStyleIdx="6" presStyleCnt="8"/>
      <dgm:spPr/>
    </dgm:pt>
    <dgm:pt modelId="{DF28880D-7536-4EC7-9143-FFC22F331E74}" type="pres">
      <dgm:prSet presAssocID="{CD15E858-1992-4FA3-A874-F02B010A97C1}" presName="image4" presStyleCnt="0"/>
      <dgm:spPr/>
    </dgm:pt>
    <dgm:pt modelId="{DDCF00C4-6647-4D2C-BFAE-A4F4A0233CCD}" type="pres">
      <dgm:prSet presAssocID="{CD15E858-1992-4FA3-A874-F02B010A97C1}" presName="imageRepeatNode" presStyleLbl="alignAcc1" presStyleIdx="3" presStyleCnt="4"/>
      <dgm:spPr/>
    </dgm:pt>
    <dgm:pt modelId="{6B36A691-C9B2-4867-BEE2-DEE07A5F5068}" type="pres">
      <dgm:prSet presAssocID="{CD15E858-1992-4FA3-A874-F02B010A97C1}" presName="imageaccent4" presStyleCnt="0"/>
      <dgm:spPr/>
    </dgm:pt>
    <dgm:pt modelId="{DB71DDDA-A778-4003-9086-820F56410BC8}" type="pres">
      <dgm:prSet presAssocID="{CD15E858-1992-4FA3-A874-F02B010A97C1}" presName="accentRepeatNode" presStyleLbl="solidAlignAcc1" presStyleIdx="7" presStyleCnt="8"/>
      <dgm:spPr/>
    </dgm:pt>
  </dgm:ptLst>
  <dgm:cxnLst>
    <dgm:cxn modelId="{04028B11-4946-4C01-88B2-0058F54B30F3}" type="presOf" srcId="{9E0546F6-9B5D-4686-9202-AE60A9B90B82}" destId="{F967A6E7-EF80-451D-8B2E-3ED6CC3EAE11}" srcOrd="0" destOrd="0" presId="urn:microsoft.com/office/officeart/2008/layout/HexagonCluster"/>
    <dgm:cxn modelId="{94CE0819-272C-492A-BFE5-220D2CDFA997}" srcId="{42FCB8C5-F36F-443F-8A34-9E60BCDB092A}" destId="{56D17AE9-22DB-4659-93AF-149BE84C564E}" srcOrd="2" destOrd="0" parTransId="{1216B4DD-2A5A-40FF-A5C8-8060CD7C5AAE}" sibTransId="{F1866153-CC4C-4EFB-BD37-31F900B3FC21}"/>
    <dgm:cxn modelId="{2AD33E2A-5CE6-4F56-88A9-1141069745B6}" srcId="{42FCB8C5-F36F-443F-8A34-9E60BCDB092A}" destId="{5E6948BC-480C-4B0E-AF29-18274D14718A}" srcOrd="0" destOrd="0" parTransId="{60CB9319-7957-4CAF-B506-AA3214DDDA3F}" sibTransId="{4DEE68CC-59D7-42DA-B20D-187596EC9BCA}"/>
    <dgm:cxn modelId="{BA61423C-65E0-4336-A8AE-0C41F48A80F7}" srcId="{42FCB8C5-F36F-443F-8A34-9E60BCDB092A}" destId="{E389BA5D-5FDC-4A24-B560-63653F931CF1}" srcOrd="3" destOrd="0" parTransId="{F8FAF3FE-7758-4399-9CA5-9F72EB2C7D02}" sibTransId="{CD15E858-1992-4FA3-A874-F02B010A97C1}"/>
    <dgm:cxn modelId="{23283443-6C33-4247-A649-FA536568C470}" type="presOf" srcId="{4DEE68CC-59D7-42DA-B20D-187596EC9BCA}" destId="{327A67DD-AB71-4340-A460-E847429B767B}" srcOrd="0" destOrd="0" presId="urn:microsoft.com/office/officeart/2008/layout/HexagonCluster"/>
    <dgm:cxn modelId="{10776566-037B-4D32-A884-E16328096D45}" type="presOf" srcId="{5FCE2EAA-C0E2-4258-B116-8DEE66B3B664}" destId="{28234994-37CE-4EC0-A061-786615F7DCC4}" srcOrd="0" destOrd="0" presId="urn:microsoft.com/office/officeart/2008/layout/HexagonCluster"/>
    <dgm:cxn modelId="{ADCE1A4A-88D0-4720-B33C-3AF307D40A0A}" type="presOf" srcId="{42FCB8C5-F36F-443F-8A34-9E60BCDB092A}" destId="{A7A67AA6-FB21-48D3-930F-5D4AD538E1C8}" srcOrd="0" destOrd="0" presId="urn:microsoft.com/office/officeart/2008/layout/HexagonCluster"/>
    <dgm:cxn modelId="{0A3C2C4F-2948-45AB-A2B2-7AB7F65F9C6F}" srcId="{42FCB8C5-F36F-443F-8A34-9E60BCDB092A}" destId="{9E0546F6-9B5D-4686-9202-AE60A9B90B82}" srcOrd="1" destOrd="0" parTransId="{AD299A2E-AC4A-43B7-8451-3A6A14F580D4}" sibTransId="{5FCE2EAA-C0E2-4258-B116-8DEE66B3B664}"/>
    <dgm:cxn modelId="{E2BF7973-BACC-4887-973B-8144B4479FBA}" type="presOf" srcId="{56D17AE9-22DB-4659-93AF-149BE84C564E}" destId="{934B0944-1253-495F-AFE0-056AC9F5E5AD}" srcOrd="0" destOrd="0" presId="urn:microsoft.com/office/officeart/2008/layout/HexagonCluster"/>
    <dgm:cxn modelId="{CA1DCD83-529C-4B82-8A9F-5CE81135C378}" type="presOf" srcId="{5E6948BC-480C-4B0E-AF29-18274D14718A}" destId="{53F9A7B2-7A9A-408C-BA27-A8C3F717B677}" srcOrd="0" destOrd="0" presId="urn:microsoft.com/office/officeart/2008/layout/HexagonCluster"/>
    <dgm:cxn modelId="{8F3DA4B1-8DD4-4DB5-8AB9-7C1E0DFC515F}" type="presOf" srcId="{F1866153-CC4C-4EFB-BD37-31F900B3FC21}" destId="{20B63F93-CB65-4713-A63C-12819990B3FC}" srcOrd="0" destOrd="0" presId="urn:microsoft.com/office/officeart/2008/layout/HexagonCluster"/>
    <dgm:cxn modelId="{06E9B1F6-1270-44CD-A99C-6684AF2B5473}" type="presOf" srcId="{CD15E858-1992-4FA3-A874-F02B010A97C1}" destId="{DDCF00C4-6647-4D2C-BFAE-A4F4A0233CCD}" srcOrd="0" destOrd="0" presId="urn:microsoft.com/office/officeart/2008/layout/HexagonCluster"/>
    <dgm:cxn modelId="{17E85EFB-036F-4FCF-8FE0-3231888E9BFC}" type="presOf" srcId="{E389BA5D-5FDC-4A24-B560-63653F931CF1}" destId="{2BB68105-8538-4679-B500-23F811E4B43B}" srcOrd="0" destOrd="0" presId="urn:microsoft.com/office/officeart/2008/layout/HexagonCluster"/>
    <dgm:cxn modelId="{EA8205B2-31E5-44E4-90C3-6D2BA9E265D2}" type="presParOf" srcId="{A7A67AA6-FB21-48D3-930F-5D4AD538E1C8}" destId="{2F08185B-D0AC-4EAD-98E7-BEADA4EE35EC}" srcOrd="0" destOrd="0" presId="urn:microsoft.com/office/officeart/2008/layout/HexagonCluster"/>
    <dgm:cxn modelId="{CA4DACB8-8E62-4543-B269-279422BC9CCE}" type="presParOf" srcId="{2F08185B-D0AC-4EAD-98E7-BEADA4EE35EC}" destId="{53F9A7B2-7A9A-408C-BA27-A8C3F717B677}" srcOrd="0" destOrd="0" presId="urn:microsoft.com/office/officeart/2008/layout/HexagonCluster"/>
    <dgm:cxn modelId="{8344B64B-41DB-4961-B36E-552BFF706C1A}" type="presParOf" srcId="{A7A67AA6-FB21-48D3-930F-5D4AD538E1C8}" destId="{D6D443B8-9236-465A-A71E-2408AE62EF06}" srcOrd="1" destOrd="0" presId="urn:microsoft.com/office/officeart/2008/layout/HexagonCluster"/>
    <dgm:cxn modelId="{66B5E17B-D80D-47AE-BABC-3D7DC525DC87}" type="presParOf" srcId="{D6D443B8-9236-465A-A71E-2408AE62EF06}" destId="{6D3A59CD-4DB6-481F-9C65-380235AFC6A2}" srcOrd="0" destOrd="0" presId="urn:microsoft.com/office/officeart/2008/layout/HexagonCluster"/>
    <dgm:cxn modelId="{1CCBB8C8-B563-4FC2-A280-231D581340DD}" type="presParOf" srcId="{A7A67AA6-FB21-48D3-930F-5D4AD538E1C8}" destId="{B2FB9FE3-0E79-4F8F-B127-FB075F7F38DB}" srcOrd="2" destOrd="0" presId="urn:microsoft.com/office/officeart/2008/layout/HexagonCluster"/>
    <dgm:cxn modelId="{276EBC2C-A8D7-4994-A9E4-48058678DCBB}" type="presParOf" srcId="{B2FB9FE3-0E79-4F8F-B127-FB075F7F38DB}" destId="{327A67DD-AB71-4340-A460-E847429B767B}" srcOrd="0" destOrd="0" presId="urn:microsoft.com/office/officeart/2008/layout/HexagonCluster"/>
    <dgm:cxn modelId="{3C20BBAD-27B2-4D73-92A4-FCE028F4FEC1}" type="presParOf" srcId="{A7A67AA6-FB21-48D3-930F-5D4AD538E1C8}" destId="{7837195C-22A8-4F30-BAB1-70526E02FFCE}" srcOrd="3" destOrd="0" presId="urn:microsoft.com/office/officeart/2008/layout/HexagonCluster"/>
    <dgm:cxn modelId="{7FED4AE8-1020-4781-B19E-526DF1247C03}" type="presParOf" srcId="{7837195C-22A8-4F30-BAB1-70526E02FFCE}" destId="{CCC4E11D-B9A6-427B-838C-9B2A7C3B0D24}" srcOrd="0" destOrd="0" presId="urn:microsoft.com/office/officeart/2008/layout/HexagonCluster"/>
    <dgm:cxn modelId="{BA886E55-FA3D-46F2-9AFA-654C86B9B7E4}" type="presParOf" srcId="{A7A67AA6-FB21-48D3-930F-5D4AD538E1C8}" destId="{B75325C3-E3B8-432B-8510-1A73350F46DF}" srcOrd="4" destOrd="0" presId="urn:microsoft.com/office/officeart/2008/layout/HexagonCluster"/>
    <dgm:cxn modelId="{AFC71150-9D46-459A-A313-A94B1D13EC8B}" type="presParOf" srcId="{B75325C3-E3B8-432B-8510-1A73350F46DF}" destId="{F967A6E7-EF80-451D-8B2E-3ED6CC3EAE11}" srcOrd="0" destOrd="0" presId="urn:microsoft.com/office/officeart/2008/layout/HexagonCluster"/>
    <dgm:cxn modelId="{EC22C94D-8B96-4B55-8DBE-BFF7B3124EA9}" type="presParOf" srcId="{A7A67AA6-FB21-48D3-930F-5D4AD538E1C8}" destId="{D1CD024D-EB19-4D4C-9B44-C99FE0FD60BA}" srcOrd="5" destOrd="0" presId="urn:microsoft.com/office/officeart/2008/layout/HexagonCluster"/>
    <dgm:cxn modelId="{4785820D-A874-4D1F-94FE-54B37924FD37}" type="presParOf" srcId="{D1CD024D-EB19-4D4C-9B44-C99FE0FD60BA}" destId="{7C6B4895-D794-4F66-9D93-7C8A2996F752}" srcOrd="0" destOrd="0" presId="urn:microsoft.com/office/officeart/2008/layout/HexagonCluster"/>
    <dgm:cxn modelId="{A5339805-3F7E-40D3-8FDE-0980F4D7F1B2}" type="presParOf" srcId="{A7A67AA6-FB21-48D3-930F-5D4AD538E1C8}" destId="{157FD9AA-28F3-4D6A-BC51-86DC2FFCCC80}" srcOrd="6" destOrd="0" presId="urn:microsoft.com/office/officeart/2008/layout/HexagonCluster"/>
    <dgm:cxn modelId="{57B2DC4E-58A3-4101-B4A0-5446F359B129}" type="presParOf" srcId="{157FD9AA-28F3-4D6A-BC51-86DC2FFCCC80}" destId="{28234994-37CE-4EC0-A061-786615F7DCC4}" srcOrd="0" destOrd="0" presId="urn:microsoft.com/office/officeart/2008/layout/HexagonCluster"/>
    <dgm:cxn modelId="{16BE3A87-606F-4973-BD8D-6CCE4D8B9998}" type="presParOf" srcId="{A7A67AA6-FB21-48D3-930F-5D4AD538E1C8}" destId="{748BD0F8-5FF9-4F0B-87BD-24E186FE10FC}" srcOrd="7" destOrd="0" presId="urn:microsoft.com/office/officeart/2008/layout/HexagonCluster"/>
    <dgm:cxn modelId="{F93E2CE0-98D9-46BD-9AA6-D4DB04FF5D39}" type="presParOf" srcId="{748BD0F8-5FF9-4F0B-87BD-24E186FE10FC}" destId="{9D530AA8-206A-48C5-A3A0-CE67E8304600}" srcOrd="0" destOrd="0" presId="urn:microsoft.com/office/officeart/2008/layout/HexagonCluster"/>
    <dgm:cxn modelId="{64DF16BF-DE23-46A5-9145-4667363FBE05}" type="presParOf" srcId="{A7A67AA6-FB21-48D3-930F-5D4AD538E1C8}" destId="{2A4D019F-6CB3-45BD-994F-407E470523BB}" srcOrd="8" destOrd="0" presId="urn:microsoft.com/office/officeart/2008/layout/HexagonCluster"/>
    <dgm:cxn modelId="{D30BDBEE-6B9D-486F-B52C-FAAE7905779C}" type="presParOf" srcId="{2A4D019F-6CB3-45BD-994F-407E470523BB}" destId="{934B0944-1253-495F-AFE0-056AC9F5E5AD}" srcOrd="0" destOrd="0" presId="urn:microsoft.com/office/officeart/2008/layout/HexagonCluster"/>
    <dgm:cxn modelId="{0D3576E7-AA32-4BE7-9A8E-CED201DE1FC3}" type="presParOf" srcId="{A7A67AA6-FB21-48D3-930F-5D4AD538E1C8}" destId="{BBA442EC-96CB-4601-849E-C7C53510BA74}" srcOrd="9" destOrd="0" presId="urn:microsoft.com/office/officeart/2008/layout/HexagonCluster"/>
    <dgm:cxn modelId="{AFDDB6CB-65CE-43D2-9F14-16196A6C87C0}" type="presParOf" srcId="{BBA442EC-96CB-4601-849E-C7C53510BA74}" destId="{3CA9E0FE-5782-4AAA-8CC2-74E0585E91AD}" srcOrd="0" destOrd="0" presId="urn:microsoft.com/office/officeart/2008/layout/HexagonCluster"/>
    <dgm:cxn modelId="{A8B2C5D6-7EBB-460A-97E0-32949C06BAAB}" type="presParOf" srcId="{A7A67AA6-FB21-48D3-930F-5D4AD538E1C8}" destId="{FD477283-76EA-425D-BFD8-1F3E699D5CA1}" srcOrd="10" destOrd="0" presId="urn:microsoft.com/office/officeart/2008/layout/HexagonCluster"/>
    <dgm:cxn modelId="{4940F5C1-5B0D-4806-89D8-2A8341E58FAF}" type="presParOf" srcId="{FD477283-76EA-425D-BFD8-1F3E699D5CA1}" destId="{20B63F93-CB65-4713-A63C-12819990B3FC}" srcOrd="0" destOrd="0" presId="urn:microsoft.com/office/officeart/2008/layout/HexagonCluster"/>
    <dgm:cxn modelId="{027CAB44-EAAC-4680-BEF7-FF55847F6F9A}" type="presParOf" srcId="{A7A67AA6-FB21-48D3-930F-5D4AD538E1C8}" destId="{5A0EAFE6-516F-4D44-9CAC-346834F36CB7}" srcOrd="11" destOrd="0" presId="urn:microsoft.com/office/officeart/2008/layout/HexagonCluster"/>
    <dgm:cxn modelId="{3FF825D7-E824-4BCB-9927-7B61EFD8737A}" type="presParOf" srcId="{5A0EAFE6-516F-4D44-9CAC-346834F36CB7}" destId="{B736E687-66E1-4C64-8315-E105189ABED7}" srcOrd="0" destOrd="0" presId="urn:microsoft.com/office/officeart/2008/layout/HexagonCluster"/>
    <dgm:cxn modelId="{128B3521-8007-41D8-8F11-D193978EAF11}" type="presParOf" srcId="{A7A67AA6-FB21-48D3-930F-5D4AD538E1C8}" destId="{5F6717BB-4AEE-4061-A176-CA2CB29534DE}" srcOrd="12" destOrd="0" presId="urn:microsoft.com/office/officeart/2008/layout/HexagonCluster"/>
    <dgm:cxn modelId="{FB04C12E-0413-493C-94DB-9B2A3E403939}" type="presParOf" srcId="{5F6717BB-4AEE-4061-A176-CA2CB29534DE}" destId="{2BB68105-8538-4679-B500-23F811E4B43B}" srcOrd="0" destOrd="0" presId="urn:microsoft.com/office/officeart/2008/layout/HexagonCluster"/>
    <dgm:cxn modelId="{7F164DD0-9B79-4C73-B607-662EBD7253F0}" type="presParOf" srcId="{A7A67AA6-FB21-48D3-930F-5D4AD538E1C8}" destId="{C85D8D78-D195-40FC-A5F1-386FE2F8810D}" srcOrd="13" destOrd="0" presId="urn:microsoft.com/office/officeart/2008/layout/HexagonCluster"/>
    <dgm:cxn modelId="{52271C0D-5782-42BE-BF99-C429711C63C7}" type="presParOf" srcId="{C85D8D78-D195-40FC-A5F1-386FE2F8810D}" destId="{229D0970-A730-46F3-B26C-F63126BEB1E3}" srcOrd="0" destOrd="0" presId="urn:microsoft.com/office/officeart/2008/layout/HexagonCluster"/>
    <dgm:cxn modelId="{62B8782E-F9D9-49EB-AA60-9593A2D1469B}" type="presParOf" srcId="{A7A67AA6-FB21-48D3-930F-5D4AD538E1C8}" destId="{DF28880D-7536-4EC7-9143-FFC22F331E74}" srcOrd="14" destOrd="0" presId="urn:microsoft.com/office/officeart/2008/layout/HexagonCluster"/>
    <dgm:cxn modelId="{45EE529E-0347-4961-9871-91BC7CAE6210}" type="presParOf" srcId="{DF28880D-7536-4EC7-9143-FFC22F331E74}" destId="{DDCF00C4-6647-4D2C-BFAE-A4F4A0233CCD}" srcOrd="0" destOrd="0" presId="urn:microsoft.com/office/officeart/2008/layout/HexagonCluster"/>
    <dgm:cxn modelId="{BFBCCE63-F034-4C8E-9D01-5E0237BDC79B}" type="presParOf" srcId="{A7A67AA6-FB21-48D3-930F-5D4AD538E1C8}" destId="{6B36A691-C9B2-4867-BEE2-DEE07A5F5068}" srcOrd="15" destOrd="0" presId="urn:microsoft.com/office/officeart/2008/layout/HexagonCluster"/>
    <dgm:cxn modelId="{067D9C41-55D7-4A0F-AEFD-9B8EE0D00498}" type="presParOf" srcId="{6B36A691-C9B2-4867-BEE2-DEE07A5F5068}" destId="{DB71DDDA-A778-4003-9086-820F56410BC8}" srcOrd="0" destOrd="0" presId="urn:microsoft.com/office/officeart/2008/layout/Hexagon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F9A7B2-7A9A-408C-BA27-A8C3F717B677}">
      <dsp:nvSpPr>
        <dsp:cNvPr id="0" name=""/>
        <dsp:cNvSpPr/>
      </dsp:nvSpPr>
      <dsp:spPr>
        <a:xfrm>
          <a:off x="1032756" y="3143676"/>
          <a:ext cx="1216583" cy="1044296"/>
        </a:xfrm>
        <a:prstGeom prst="hexagon">
          <a:avLst>
            <a:gd name="adj" fmla="val 25000"/>
            <a:gd name="vf" fmla="val 11547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160" rIns="0" bIns="10160" numCol="1" spcCol="1270" anchor="ctr" anchorCtr="0">
          <a:noAutofit/>
        </a:bodyPr>
        <a:lstStyle/>
        <a:p>
          <a:pPr marL="0" lvl="0" indent="0" algn="ctr" defTabSz="355600">
            <a:lnSpc>
              <a:spcPct val="90000"/>
            </a:lnSpc>
            <a:spcBef>
              <a:spcPct val="0"/>
            </a:spcBef>
            <a:spcAft>
              <a:spcPct val="35000"/>
            </a:spcAft>
            <a:buNone/>
          </a:pPr>
          <a:r>
            <a:rPr lang="fr-FR" sz="800" kern="1200" dirty="0">
              <a:effectLst/>
            </a:rPr>
            <a:t>Dossiers actuellement confiés à des prestataires de recherche des bénéficiaires en %</a:t>
          </a:r>
          <a:endParaRPr lang="fr-FR" sz="800" kern="1200" dirty="0"/>
        </a:p>
      </dsp:txBody>
      <dsp:txXfrm>
        <a:off x="1221163" y="3305401"/>
        <a:ext cx="839769" cy="720846"/>
      </dsp:txXfrm>
    </dsp:sp>
    <dsp:sp modelId="{6D3A59CD-4DB6-481F-9C65-380235AFC6A2}">
      <dsp:nvSpPr>
        <dsp:cNvPr id="0" name=""/>
        <dsp:cNvSpPr/>
      </dsp:nvSpPr>
      <dsp:spPr>
        <a:xfrm>
          <a:off x="1070808" y="3605141"/>
          <a:ext cx="142024" cy="122469"/>
        </a:xfrm>
        <a:prstGeom prst="hexagon">
          <a:avLst>
            <a:gd name="adj" fmla="val 25000"/>
            <a:gd name="vf" fmla="val 115470"/>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7A67DD-AB71-4340-A460-E847429B767B}">
      <dsp:nvSpPr>
        <dsp:cNvPr id="0" name=""/>
        <dsp:cNvSpPr/>
      </dsp:nvSpPr>
      <dsp:spPr>
        <a:xfrm>
          <a:off x="0" y="2576015"/>
          <a:ext cx="1216583" cy="1044296"/>
        </a:xfrm>
        <a:prstGeom prst="hexagon">
          <a:avLst>
            <a:gd name="adj" fmla="val 25000"/>
            <a:gd name="vf" fmla="val 115470"/>
          </a:avLst>
        </a:prstGeom>
        <a:blipFill>
          <a:blip xmlns:r="http://schemas.openxmlformats.org/officeDocument/2006/relationships" r:embed="rId1"/>
          <a:srcRect/>
          <a:stretch>
            <a:fillRect l="-14000" r="-14000"/>
          </a:stretch>
        </a:blip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C4E11D-B9A6-427B-838C-9B2A7C3B0D24}">
      <dsp:nvSpPr>
        <dsp:cNvPr id="0" name=""/>
        <dsp:cNvSpPr/>
      </dsp:nvSpPr>
      <dsp:spPr>
        <a:xfrm>
          <a:off x="823739" y="3475500"/>
          <a:ext cx="142024" cy="122469"/>
        </a:xfrm>
        <a:prstGeom prst="hexagon">
          <a:avLst>
            <a:gd name="adj" fmla="val 25000"/>
            <a:gd name="vf" fmla="val 115470"/>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967A6E7-EF80-451D-8B2E-3ED6CC3EAE11}">
      <dsp:nvSpPr>
        <dsp:cNvPr id="0" name=""/>
        <dsp:cNvSpPr/>
      </dsp:nvSpPr>
      <dsp:spPr>
        <a:xfrm>
          <a:off x="2064440" y="2568016"/>
          <a:ext cx="1216583" cy="1044296"/>
        </a:xfrm>
        <a:prstGeom prst="hexagon">
          <a:avLst>
            <a:gd name="adj" fmla="val 25000"/>
            <a:gd name="vf" fmla="val 11547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160" rIns="0" bIns="10160" numCol="1" spcCol="1270" anchor="ctr" anchorCtr="0">
          <a:noAutofit/>
        </a:bodyPr>
        <a:lstStyle/>
        <a:p>
          <a:pPr marL="0" lvl="0" indent="0" algn="ctr" defTabSz="355600">
            <a:lnSpc>
              <a:spcPct val="90000"/>
            </a:lnSpc>
            <a:spcBef>
              <a:spcPct val="0"/>
            </a:spcBef>
            <a:spcAft>
              <a:spcPct val="35000"/>
            </a:spcAft>
            <a:buNone/>
          </a:pPr>
          <a:r>
            <a:rPr lang="fr-FR" sz="800" kern="1200" dirty="0">
              <a:effectLst/>
            </a:rPr>
            <a:t>Dossiers hors délais pour l'envoi de la lettre d'obtention des pièces justificatives en %</a:t>
          </a:r>
          <a:endParaRPr lang="fr-FR" sz="800" kern="1200" dirty="0"/>
        </a:p>
      </dsp:txBody>
      <dsp:txXfrm>
        <a:off x="2252847" y="2729741"/>
        <a:ext cx="839769" cy="720846"/>
      </dsp:txXfrm>
    </dsp:sp>
    <dsp:sp modelId="{7C6B4895-D794-4F66-9D93-7C8A2996F752}">
      <dsp:nvSpPr>
        <dsp:cNvPr id="0" name=""/>
        <dsp:cNvSpPr/>
      </dsp:nvSpPr>
      <dsp:spPr>
        <a:xfrm>
          <a:off x="2897827" y="3466398"/>
          <a:ext cx="142024" cy="122469"/>
        </a:xfrm>
        <a:prstGeom prst="hexagon">
          <a:avLst>
            <a:gd name="adj" fmla="val 25000"/>
            <a:gd name="vf" fmla="val 115470"/>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8234994-37CE-4EC0-A061-786615F7DCC4}">
      <dsp:nvSpPr>
        <dsp:cNvPr id="0" name=""/>
        <dsp:cNvSpPr/>
      </dsp:nvSpPr>
      <dsp:spPr>
        <a:xfrm>
          <a:off x="3101484" y="3142021"/>
          <a:ext cx="1216583" cy="1044296"/>
        </a:xfrm>
        <a:prstGeom prst="hexagon">
          <a:avLst>
            <a:gd name="adj" fmla="val 25000"/>
            <a:gd name="vf" fmla="val 11547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D530AA8-206A-48C5-A3A0-CE67E8304600}">
      <dsp:nvSpPr>
        <dsp:cNvPr id="0" name=""/>
        <dsp:cNvSpPr/>
      </dsp:nvSpPr>
      <dsp:spPr>
        <a:xfrm>
          <a:off x="3129353" y="3609830"/>
          <a:ext cx="142024" cy="122469"/>
        </a:xfrm>
        <a:prstGeom prst="hexagon">
          <a:avLst>
            <a:gd name="adj" fmla="val 25000"/>
            <a:gd name="vf" fmla="val 115470"/>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4B0944-1253-495F-AFE0-056AC9F5E5AD}">
      <dsp:nvSpPr>
        <dsp:cNvPr id="0" name=""/>
        <dsp:cNvSpPr/>
      </dsp:nvSpPr>
      <dsp:spPr>
        <a:xfrm>
          <a:off x="1032756" y="2005320"/>
          <a:ext cx="1216583" cy="1044296"/>
        </a:xfrm>
        <a:prstGeom prst="hexagon">
          <a:avLst>
            <a:gd name="adj" fmla="val 25000"/>
            <a:gd name="vf" fmla="val 11547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160" rIns="0" bIns="10160" numCol="1" spcCol="1270" anchor="ctr" anchorCtr="0">
          <a:noAutofit/>
        </a:bodyPr>
        <a:lstStyle/>
        <a:p>
          <a:pPr marL="0" lvl="0" indent="0" algn="ctr" defTabSz="355600">
            <a:lnSpc>
              <a:spcPct val="90000"/>
            </a:lnSpc>
            <a:spcBef>
              <a:spcPct val="0"/>
            </a:spcBef>
            <a:spcAft>
              <a:spcPct val="35000"/>
            </a:spcAft>
            <a:buNone/>
          </a:pPr>
          <a:r>
            <a:rPr lang="fr-FR" sz="800" kern="1200" dirty="0">
              <a:effectLst/>
            </a:rPr>
            <a:t>Nb de demandes reçues en N de l'AGIRA (AGIRA 1) pour lesquels le décès de l'assuré était déjà connu</a:t>
          </a:r>
          <a:endParaRPr lang="fr-FR" sz="800" kern="1200" dirty="0"/>
        </a:p>
      </dsp:txBody>
      <dsp:txXfrm>
        <a:off x="1221163" y="2167045"/>
        <a:ext cx="839769" cy="720846"/>
      </dsp:txXfrm>
    </dsp:sp>
    <dsp:sp modelId="{3CA9E0FE-5782-4AAA-8CC2-74E0585E91AD}">
      <dsp:nvSpPr>
        <dsp:cNvPr id="0" name=""/>
        <dsp:cNvSpPr/>
      </dsp:nvSpPr>
      <dsp:spPr>
        <a:xfrm>
          <a:off x="1860783" y="2026835"/>
          <a:ext cx="142024" cy="122469"/>
        </a:xfrm>
        <a:prstGeom prst="hexagon">
          <a:avLst>
            <a:gd name="adj" fmla="val 25000"/>
            <a:gd name="vf" fmla="val 115470"/>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B63F93-CB65-4713-A63C-12819990B3FC}">
      <dsp:nvSpPr>
        <dsp:cNvPr id="0" name=""/>
        <dsp:cNvSpPr/>
      </dsp:nvSpPr>
      <dsp:spPr>
        <a:xfrm>
          <a:off x="2064440" y="1429661"/>
          <a:ext cx="1216583" cy="1044296"/>
        </a:xfrm>
        <a:prstGeom prst="hexagon">
          <a:avLst>
            <a:gd name="adj" fmla="val 25000"/>
            <a:gd name="vf" fmla="val 115470"/>
          </a:avLst>
        </a:prstGeom>
        <a:blipFill>
          <a:blip xmlns:r="http://schemas.openxmlformats.org/officeDocument/2006/relationships" r:embed="rId2"/>
          <a:srcRect/>
          <a:stretch>
            <a:fillRect l="-26000" r="-26000"/>
          </a:stretch>
        </a:blip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736E687-66E1-4C64-8315-E105189ABED7}">
      <dsp:nvSpPr>
        <dsp:cNvPr id="0" name=""/>
        <dsp:cNvSpPr/>
      </dsp:nvSpPr>
      <dsp:spPr>
        <a:xfrm>
          <a:off x="2092309" y="1892505"/>
          <a:ext cx="142024" cy="122469"/>
        </a:xfrm>
        <a:prstGeom prst="hexagon">
          <a:avLst>
            <a:gd name="adj" fmla="val 25000"/>
            <a:gd name="vf" fmla="val 115470"/>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BB68105-8538-4679-B500-23F811E4B43B}">
      <dsp:nvSpPr>
        <dsp:cNvPr id="0" name=""/>
        <dsp:cNvSpPr/>
      </dsp:nvSpPr>
      <dsp:spPr>
        <a:xfrm>
          <a:off x="3101484" y="2003665"/>
          <a:ext cx="1216583" cy="1044296"/>
        </a:xfrm>
        <a:prstGeom prst="hexagon">
          <a:avLst>
            <a:gd name="adj" fmla="val 25000"/>
            <a:gd name="vf" fmla="val 11547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160" rIns="0" bIns="10160" numCol="1" spcCol="1270" anchor="ctr" anchorCtr="0">
          <a:noAutofit/>
        </a:bodyPr>
        <a:lstStyle/>
        <a:p>
          <a:pPr marL="0" lvl="0" indent="0" algn="ctr" defTabSz="355600">
            <a:lnSpc>
              <a:spcPct val="90000"/>
            </a:lnSpc>
            <a:spcBef>
              <a:spcPct val="0"/>
            </a:spcBef>
            <a:spcAft>
              <a:spcPct val="35000"/>
            </a:spcAft>
            <a:buNone/>
          </a:pPr>
          <a:r>
            <a:rPr lang="fr-FR" sz="800" kern="1200" dirty="0">
              <a:effectLst/>
            </a:rPr>
            <a:t>Nb et </a:t>
          </a:r>
          <a:r>
            <a:rPr lang="fr-FR" sz="800" kern="1200" dirty="0" err="1">
              <a:effectLst/>
            </a:rPr>
            <a:t>tx</a:t>
          </a:r>
          <a:r>
            <a:rPr lang="fr-FR" sz="800" kern="1200" dirty="0">
              <a:effectLst/>
            </a:rPr>
            <a:t> de retour de clients en PND</a:t>
          </a:r>
          <a:endParaRPr lang="fr-FR" sz="800" kern="1200" dirty="0"/>
        </a:p>
      </dsp:txBody>
      <dsp:txXfrm>
        <a:off x="3289891" y="2165390"/>
        <a:ext cx="839769" cy="720846"/>
      </dsp:txXfrm>
    </dsp:sp>
    <dsp:sp modelId="{229D0970-A730-46F3-B26C-F63126BEB1E3}">
      <dsp:nvSpPr>
        <dsp:cNvPr id="0" name=""/>
        <dsp:cNvSpPr/>
      </dsp:nvSpPr>
      <dsp:spPr>
        <a:xfrm>
          <a:off x="4147639" y="2464579"/>
          <a:ext cx="142024" cy="122469"/>
        </a:xfrm>
        <a:prstGeom prst="hexagon">
          <a:avLst>
            <a:gd name="adj" fmla="val 25000"/>
            <a:gd name="vf" fmla="val 115470"/>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CF00C4-6647-4D2C-BFAE-A4F4A0233CCD}">
      <dsp:nvSpPr>
        <dsp:cNvPr id="0" name=""/>
        <dsp:cNvSpPr/>
      </dsp:nvSpPr>
      <dsp:spPr>
        <a:xfrm>
          <a:off x="4142816" y="2577670"/>
          <a:ext cx="1216583" cy="1044296"/>
        </a:xfrm>
        <a:prstGeom prst="hexagon">
          <a:avLst>
            <a:gd name="adj" fmla="val 25000"/>
            <a:gd name="vf" fmla="val 115470"/>
          </a:avLst>
        </a:prstGeom>
        <a:blipFill>
          <a:blip xmlns:r="http://schemas.openxmlformats.org/officeDocument/2006/relationships" r:embed="rId3"/>
          <a:srcRect/>
          <a:stretch>
            <a:fillRect t="-37000" b="-37000"/>
          </a:stretch>
        </a:blip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B71DDDA-A778-4003-9086-820F56410BC8}">
      <dsp:nvSpPr>
        <dsp:cNvPr id="0" name=""/>
        <dsp:cNvSpPr/>
      </dsp:nvSpPr>
      <dsp:spPr>
        <a:xfrm>
          <a:off x="4388276" y="2596151"/>
          <a:ext cx="142024" cy="122469"/>
        </a:xfrm>
        <a:prstGeom prst="hexagon">
          <a:avLst>
            <a:gd name="adj" fmla="val 25000"/>
            <a:gd name="vf" fmla="val 115470"/>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CFF4B3-E525-4366-2033-44F278848AAA}"/>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6C91242-441E-A43D-ADAC-9D55B3BD7E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0CEC94B-DBB5-A84D-9F67-7505AF751F82}"/>
              </a:ext>
            </a:extLst>
          </p:cNvPr>
          <p:cNvSpPr>
            <a:spLocks noGrp="1"/>
          </p:cNvSpPr>
          <p:nvPr>
            <p:ph type="dt" sz="half" idx="10"/>
          </p:nvPr>
        </p:nvSpPr>
        <p:spPr/>
        <p:txBody>
          <a:bodyPr/>
          <a:lstStyle/>
          <a:p>
            <a:fld id="{B5CC9B88-43ED-4216-BF07-D9127852E2DA}" type="datetimeFigureOut">
              <a:rPr lang="fr-FR" smtClean="0"/>
              <a:t>08/06/2026</a:t>
            </a:fld>
            <a:endParaRPr lang="fr-FR"/>
          </a:p>
        </p:txBody>
      </p:sp>
      <p:sp>
        <p:nvSpPr>
          <p:cNvPr id="5" name="Espace réservé du pied de page 4">
            <a:extLst>
              <a:ext uri="{FF2B5EF4-FFF2-40B4-BE49-F238E27FC236}">
                <a16:creationId xmlns:a16="http://schemas.microsoft.com/office/drawing/2014/main" id="{B2AFF353-A214-B45B-A203-ECD3C45A10B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CE3C15A-5C0B-B133-45EB-330BA1465F9E}"/>
              </a:ext>
            </a:extLst>
          </p:cNvPr>
          <p:cNvSpPr>
            <a:spLocks noGrp="1"/>
          </p:cNvSpPr>
          <p:nvPr>
            <p:ph type="sldNum" sz="quarter" idx="12"/>
          </p:nvPr>
        </p:nvSpPr>
        <p:spPr/>
        <p:txBody>
          <a:bodyPr/>
          <a:lstStyle/>
          <a:p>
            <a:fld id="{C7571637-07CB-45BE-AFC4-1025A0BBE380}" type="slidenum">
              <a:rPr lang="fr-FR" smtClean="0"/>
              <a:t>‹N°›</a:t>
            </a:fld>
            <a:endParaRPr lang="fr-FR"/>
          </a:p>
        </p:txBody>
      </p:sp>
    </p:spTree>
    <p:extLst>
      <p:ext uri="{BB962C8B-B14F-4D97-AF65-F5344CB8AC3E}">
        <p14:creationId xmlns:p14="http://schemas.microsoft.com/office/powerpoint/2010/main" val="3720304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0181B0-2C3A-C5B2-9036-56ED66578EB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7115484-AE21-C823-94EA-FADC0A2282A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442B058-8856-E7B8-DB03-2EB374796500}"/>
              </a:ext>
            </a:extLst>
          </p:cNvPr>
          <p:cNvSpPr>
            <a:spLocks noGrp="1"/>
          </p:cNvSpPr>
          <p:nvPr>
            <p:ph type="dt" sz="half" idx="10"/>
          </p:nvPr>
        </p:nvSpPr>
        <p:spPr/>
        <p:txBody>
          <a:bodyPr/>
          <a:lstStyle/>
          <a:p>
            <a:fld id="{B5CC9B88-43ED-4216-BF07-D9127852E2DA}" type="datetimeFigureOut">
              <a:rPr lang="fr-FR" smtClean="0"/>
              <a:t>08/06/2026</a:t>
            </a:fld>
            <a:endParaRPr lang="fr-FR"/>
          </a:p>
        </p:txBody>
      </p:sp>
      <p:sp>
        <p:nvSpPr>
          <p:cNvPr id="5" name="Espace réservé du pied de page 4">
            <a:extLst>
              <a:ext uri="{FF2B5EF4-FFF2-40B4-BE49-F238E27FC236}">
                <a16:creationId xmlns:a16="http://schemas.microsoft.com/office/drawing/2014/main" id="{80382154-D5EE-B16C-5EBC-C51F1696753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4EFE2CE-7A42-7326-96FE-6BD098EFF182}"/>
              </a:ext>
            </a:extLst>
          </p:cNvPr>
          <p:cNvSpPr>
            <a:spLocks noGrp="1"/>
          </p:cNvSpPr>
          <p:nvPr>
            <p:ph type="sldNum" sz="quarter" idx="12"/>
          </p:nvPr>
        </p:nvSpPr>
        <p:spPr/>
        <p:txBody>
          <a:bodyPr/>
          <a:lstStyle/>
          <a:p>
            <a:fld id="{C7571637-07CB-45BE-AFC4-1025A0BBE380}" type="slidenum">
              <a:rPr lang="fr-FR" smtClean="0"/>
              <a:t>‹N°›</a:t>
            </a:fld>
            <a:endParaRPr lang="fr-FR"/>
          </a:p>
        </p:txBody>
      </p:sp>
    </p:spTree>
    <p:extLst>
      <p:ext uri="{BB962C8B-B14F-4D97-AF65-F5344CB8AC3E}">
        <p14:creationId xmlns:p14="http://schemas.microsoft.com/office/powerpoint/2010/main" val="194680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88F794-EF59-38BD-DBC6-2E9B7ECBE0F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9408C92-CCD8-6B54-F0BD-4F06F003AE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F0D914B-DC88-CCB3-E9AE-CA69A17FA931}"/>
              </a:ext>
            </a:extLst>
          </p:cNvPr>
          <p:cNvSpPr>
            <a:spLocks noGrp="1"/>
          </p:cNvSpPr>
          <p:nvPr>
            <p:ph type="dt" sz="half" idx="10"/>
          </p:nvPr>
        </p:nvSpPr>
        <p:spPr/>
        <p:txBody>
          <a:bodyPr/>
          <a:lstStyle/>
          <a:p>
            <a:fld id="{B5CC9B88-43ED-4216-BF07-D9127852E2DA}" type="datetimeFigureOut">
              <a:rPr lang="fr-FR" smtClean="0"/>
              <a:t>08/06/2026</a:t>
            </a:fld>
            <a:endParaRPr lang="fr-FR"/>
          </a:p>
        </p:txBody>
      </p:sp>
      <p:sp>
        <p:nvSpPr>
          <p:cNvPr id="5" name="Espace réservé du pied de page 4">
            <a:extLst>
              <a:ext uri="{FF2B5EF4-FFF2-40B4-BE49-F238E27FC236}">
                <a16:creationId xmlns:a16="http://schemas.microsoft.com/office/drawing/2014/main" id="{67C55A08-E66F-7B4E-3B92-FE522C9E2B0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413DC4A-342B-DC7D-A06A-AAC5C79A0163}"/>
              </a:ext>
            </a:extLst>
          </p:cNvPr>
          <p:cNvSpPr>
            <a:spLocks noGrp="1"/>
          </p:cNvSpPr>
          <p:nvPr>
            <p:ph type="sldNum" sz="quarter" idx="12"/>
          </p:nvPr>
        </p:nvSpPr>
        <p:spPr/>
        <p:txBody>
          <a:bodyPr/>
          <a:lstStyle/>
          <a:p>
            <a:fld id="{C7571637-07CB-45BE-AFC4-1025A0BBE380}" type="slidenum">
              <a:rPr lang="fr-FR" smtClean="0"/>
              <a:t>‹N°›</a:t>
            </a:fld>
            <a:endParaRPr lang="fr-FR"/>
          </a:p>
        </p:txBody>
      </p:sp>
    </p:spTree>
    <p:extLst>
      <p:ext uri="{BB962C8B-B14F-4D97-AF65-F5344CB8AC3E}">
        <p14:creationId xmlns:p14="http://schemas.microsoft.com/office/powerpoint/2010/main" val="1114809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5ED3AB-CE78-2525-AE44-E8D378228A1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5FA9AFD-B48C-53A2-3E3C-72D996F22AB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647A735E-0B64-84F2-E633-9BBA356BD77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CF4FE76-5495-89FC-E1C3-922E355E2C1C}"/>
              </a:ext>
            </a:extLst>
          </p:cNvPr>
          <p:cNvSpPr>
            <a:spLocks noGrp="1"/>
          </p:cNvSpPr>
          <p:nvPr>
            <p:ph type="dt" sz="half" idx="10"/>
          </p:nvPr>
        </p:nvSpPr>
        <p:spPr/>
        <p:txBody>
          <a:bodyPr/>
          <a:lstStyle/>
          <a:p>
            <a:fld id="{B5CC9B88-43ED-4216-BF07-D9127852E2DA}" type="datetimeFigureOut">
              <a:rPr lang="fr-FR" smtClean="0"/>
              <a:t>08/06/2026</a:t>
            </a:fld>
            <a:endParaRPr lang="fr-FR"/>
          </a:p>
        </p:txBody>
      </p:sp>
      <p:sp>
        <p:nvSpPr>
          <p:cNvPr id="6" name="Espace réservé du pied de page 5">
            <a:extLst>
              <a:ext uri="{FF2B5EF4-FFF2-40B4-BE49-F238E27FC236}">
                <a16:creationId xmlns:a16="http://schemas.microsoft.com/office/drawing/2014/main" id="{BE1AF7B5-31A9-4668-997A-8FE394D49D3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FB91764-20E9-27E6-3C1E-08C7984A2430}"/>
              </a:ext>
            </a:extLst>
          </p:cNvPr>
          <p:cNvSpPr>
            <a:spLocks noGrp="1"/>
          </p:cNvSpPr>
          <p:nvPr>
            <p:ph type="sldNum" sz="quarter" idx="12"/>
          </p:nvPr>
        </p:nvSpPr>
        <p:spPr/>
        <p:txBody>
          <a:bodyPr/>
          <a:lstStyle/>
          <a:p>
            <a:fld id="{C7571637-07CB-45BE-AFC4-1025A0BBE380}" type="slidenum">
              <a:rPr lang="fr-FR" smtClean="0"/>
              <a:t>‹N°›</a:t>
            </a:fld>
            <a:endParaRPr lang="fr-FR"/>
          </a:p>
        </p:txBody>
      </p:sp>
    </p:spTree>
    <p:extLst>
      <p:ext uri="{BB962C8B-B14F-4D97-AF65-F5344CB8AC3E}">
        <p14:creationId xmlns:p14="http://schemas.microsoft.com/office/powerpoint/2010/main" val="4207617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686896-C101-FD10-35F3-D4638979BCE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735DEDA-9AFB-B402-5161-2EE494D630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18C3E29-ED0D-A91E-A605-148F3871778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B73EB170-FCC4-BCA6-C1CA-C5DFE44847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B2954CB-199C-293D-9E0C-A31A69A0EF5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9E60975-3620-2A5D-1489-03E94F93579E}"/>
              </a:ext>
            </a:extLst>
          </p:cNvPr>
          <p:cNvSpPr>
            <a:spLocks noGrp="1"/>
          </p:cNvSpPr>
          <p:nvPr>
            <p:ph type="dt" sz="half" idx="10"/>
          </p:nvPr>
        </p:nvSpPr>
        <p:spPr/>
        <p:txBody>
          <a:bodyPr/>
          <a:lstStyle/>
          <a:p>
            <a:fld id="{B5CC9B88-43ED-4216-BF07-D9127852E2DA}" type="datetimeFigureOut">
              <a:rPr lang="fr-FR" smtClean="0"/>
              <a:t>08/06/2026</a:t>
            </a:fld>
            <a:endParaRPr lang="fr-FR"/>
          </a:p>
        </p:txBody>
      </p:sp>
      <p:sp>
        <p:nvSpPr>
          <p:cNvPr id="8" name="Espace réservé du pied de page 7">
            <a:extLst>
              <a:ext uri="{FF2B5EF4-FFF2-40B4-BE49-F238E27FC236}">
                <a16:creationId xmlns:a16="http://schemas.microsoft.com/office/drawing/2014/main" id="{09EE59A2-C4AE-7603-8F8F-8E0398096E4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1048E801-3FE1-36EE-01C8-20462A0E8A43}"/>
              </a:ext>
            </a:extLst>
          </p:cNvPr>
          <p:cNvSpPr>
            <a:spLocks noGrp="1"/>
          </p:cNvSpPr>
          <p:nvPr>
            <p:ph type="sldNum" sz="quarter" idx="12"/>
          </p:nvPr>
        </p:nvSpPr>
        <p:spPr/>
        <p:txBody>
          <a:bodyPr/>
          <a:lstStyle/>
          <a:p>
            <a:fld id="{C7571637-07CB-45BE-AFC4-1025A0BBE380}" type="slidenum">
              <a:rPr lang="fr-FR" smtClean="0"/>
              <a:t>‹N°›</a:t>
            </a:fld>
            <a:endParaRPr lang="fr-FR"/>
          </a:p>
        </p:txBody>
      </p:sp>
    </p:spTree>
    <p:extLst>
      <p:ext uri="{BB962C8B-B14F-4D97-AF65-F5344CB8AC3E}">
        <p14:creationId xmlns:p14="http://schemas.microsoft.com/office/powerpoint/2010/main" val="1878222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CF6DC1-AFE3-A19C-F923-75C48E8E9498}"/>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D39F3D4-4FEC-821E-91A9-587A8F49AAAE}"/>
              </a:ext>
            </a:extLst>
          </p:cNvPr>
          <p:cNvSpPr>
            <a:spLocks noGrp="1"/>
          </p:cNvSpPr>
          <p:nvPr>
            <p:ph type="dt" sz="half" idx="10"/>
          </p:nvPr>
        </p:nvSpPr>
        <p:spPr/>
        <p:txBody>
          <a:bodyPr/>
          <a:lstStyle/>
          <a:p>
            <a:fld id="{B5CC9B88-43ED-4216-BF07-D9127852E2DA}" type="datetimeFigureOut">
              <a:rPr lang="fr-FR" smtClean="0"/>
              <a:t>08/06/2026</a:t>
            </a:fld>
            <a:endParaRPr lang="fr-FR"/>
          </a:p>
        </p:txBody>
      </p:sp>
      <p:sp>
        <p:nvSpPr>
          <p:cNvPr id="4" name="Espace réservé du pied de page 3">
            <a:extLst>
              <a:ext uri="{FF2B5EF4-FFF2-40B4-BE49-F238E27FC236}">
                <a16:creationId xmlns:a16="http://schemas.microsoft.com/office/drawing/2014/main" id="{E2801E47-AC78-BBBB-E1D3-BCD9C70D9B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6DE3AE3-BCFE-9DBD-059A-432174A825AC}"/>
              </a:ext>
            </a:extLst>
          </p:cNvPr>
          <p:cNvSpPr>
            <a:spLocks noGrp="1"/>
          </p:cNvSpPr>
          <p:nvPr>
            <p:ph type="sldNum" sz="quarter" idx="12"/>
          </p:nvPr>
        </p:nvSpPr>
        <p:spPr/>
        <p:txBody>
          <a:bodyPr/>
          <a:lstStyle/>
          <a:p>
            <a:fld id="{C7571637-07CB-45BE-AFC4-1025A0BBE380}" type="slidenum">
              <a:rPr lang="fr-FR" smtClean="0"/>
              <a:t>‹N°›</a:t>
            </a:fld>
            <a:endParaRPr lang="fr-FR"/>
          </a:p>
        </p:txBody>
      </p:sp>
    </p:spTree>
    <p:extLst>
      <p:ext uri="{BB962C8B-B14F-4D97-AF65-F5344CB8AC3E}">
        <p14:creationId xmlns:p14="http://schemas.microsoft.com/office/powerpoint/2010/main" val="1020137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B5F0BFC-2094-7B5C-DE3D-6F6B6D289EA3}"/>
              </a:ext>
            </a:extLst>
          </p:cNvPr>
          <p:cNvSpPr>
            <a:spLocks noGrp="1"/>
          </p:cNvSpPr>
          <p:nvPr>
            <p:ph type="dt" sz="half" idx="10"/>
          </p:nvPr>
        </p:nvSpPr>
        <p:spPr/>
        <p:txBody>
          <a:bodyPr/>
          <a:lstStyle/>
          <a:p>
            <a:fld id="{B5CC9B88-43ED-4216-BF07-D9127852E2DA}" type="datetimeFigureOut">
              <a:rPr lang="fr-FR" smtClean="0"/>
              <a:t>08/06/2026</a:t>
            </a:fld>
            <a:endParaRPr lang="fr-FR"/>
          </a:p>
        </p:txBody>
      </p:sp>
      <p:sp>
        <p:nvSpPr>
          <p:cNvPr id="3" name="Espace réservé du pied de page 2">
            <a:extLst>
              <a:ext uri="{FF2B5EF4-FFF2-40B4-BE49-F238E27FC236}">
                <a16:creationId xmlns:a16="http://schemas.microsoft.com/office/drawing/2014/main" id="{52A1FBAF-14B8-9D1C-8A13-B99EBF18C8AD}"/>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D8C252F-8444-1A5B-D555-6012C50D921B}"/>
              </a:ext>
            </a:extLst>
          </p:cNvPr>
          <p:cNvSpPr>
            <a:spLocks noGrp="1"/>
          </p:cNvSpPr>
          <p:nvPr>
            <p:ph type="sldNum" sz="quarter" idx="12"/>
          </p:nvPr>
        </p:nvSpPr>
        <p:spPr/>
        <p:txBody>
          <a:bodyPr/>
          <a:lstStyle/>
          <a:p>
            <a:fld id="{C7571637-07CB-45BE-AFC4-1025A0BBE380}" type="slidenum">
              <a:rPr lang="fr-FR" smtClean="0"/>
              <a:t>‹N°›</a:t>
            </a:fld>
            <a:endParaRPr lang="fr-FR"/>
          </a:p>
        </p:txBody>
      </p:sp>
    </p:spTree>
    <p:extLst>
      <p:ext uri="{BB962C8B-B14F-4D97-AF65-F5344CB8AC3E}">
        <p14:creationId xmlns:p14="http://schemas.microsoft.com/office/powerpoint/2010/main" val="595040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5F8766-22C8-5B97-3153-AF6817BFA05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1CD4412-3297-9B8D-8BE8-E0143F6DFD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83B6B6D-23C3-9ACD-C53C-D0D3F7EB7A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6163574-0467-1D80-9835-55F07CE139BC}"/>
              </a:ext>
            </a:extLst>
          </p:cNvPr>
          <p:cNvSpPr>
            <a:spLocks noGrp="1"/>
          </p:cNvSpPr>
          <p:nvPr>
            <p:ph type="dt" sz="half" idx="10"/>
          </p:nvPr>
        </p:nvSpPr>
        <p:spPr/>
        <p:txBody>
          <a:bodyPr/>
          <a:lstStyle/>
          <a:p>
            <a:fld id="{B5CC9B88-43ED-4216-BF07-D9127852E2DA}" type="datetimeFigureOut">
              <a:rPr lang="fr-FR" smtClean="0"/>
              <a:t>08/06/2026</a:t>
            </a:fld>
            <a:endParaRPr lang="fr-FR"/>
          </a:p>
        </p:txBody>
      </p:sp>
      <p:sp>
        <p:nvSpPr>
          <p:cNvPr id="6" name="Espace réservé du pied de page 5">
            <a:extLst>
              <a:ext uri="{FF2B5EF4-FFF2-40B4-BE49-F238E27FC236}">
                <a16:creationId xmlns:a16="http://schemas.microsoft.com/office/drawing/2014/main" id="{215F79F7-2AE4-E410-D541-7EFD2CF267F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68E2150-E93C-6877-FF89-4D14FDC531D9}"/>
              </a:ext>
            </a:extLst>
          </p:cNvPr>
          <p:cNvSpPr>
            <a:spLocks noGrp="1"/>
          </p:cNvSpPr>
          <p:nvPr>
            <p:ph type="sldNum" sz="quarter" idx="12"/>
          </p:nvPr>
        </p:nvSpPr>
        <p:spPr/>
        <p:txBody>
          <a:bodyPr/>
          <a:lstStyle/>
          <a:p>
            <a:fld id="{C7571637-07CB-45BE-AFC4-1025A0BBE380}" type="slidenum">
              <a:rPr lang="fr-FR" smtClean="0"/>
              <a:t>‹N°›</a:t>
            </a:fld>
            <a:endParaRPr lang="fr-FR"/>
          </a:p>
        </p:txBody>
      </p:sp>
    </p:spTree>
    <p:extLst>
      <p:ext uri="{BB962C8B-B14F-4D97-AF65-F5344CB8AC3E}">
        <p14:creationId xmlns:p14="http://schemas.microsoft.com/office/powerpoint/2010/main" val="1798197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460B96-448E-7B04-03E9-04154D8A6A6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9CF78882-DDA5-80E8-27C3-C8925320CA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21202E4-1B7E-8F55-C5FB-9C498CB807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262F0DF-1C3D-6246-8451-2624077D320D}"/>
              </a:ext>
            </a:extLst>
          </p:cNvPr>
          <p:cNvSpPr>
            <a:spLocks noGrp="1"/>
          </p:cNvSpPr>
          <p:nvPr>
            <p:ph type="dt" sz="half" idx="10"/>
          </p:nvPr>
        </p:nvSpPr>
        <p:spPr/>
        <p:txBody>
          <a:bodyPr/>
          <a:lstStyle/>
          <a:p>
            <a:fld id="{B5CC9B88-43ED-4216-BF07-D9127852E2DA}" type="datetimeFigureOut">
              <a:rPr lang="fr-FR" smtClean="0"/>
              <a:t>08/06/2026</a:t>
            </a:fld>
            <a:endParaRPr lang="fr-FR"/>
          </a:p>
        </p:txBody>
      </p:sp>
      <p:sp>
        <p:nvSpPr>
          <p:cNvPr id="6" name="Espace réservé du pied de page 5">
            <a:extLst>
              <a:ext uri="{FF2B5EF4-FFF2-40B4-BE49-F238E27FC236}">
                <a16:creationId xmlns:a16="http://schemas.microsoft.com/office/drawing/2014/main" id="{9FA43C7E-E6EA-0D16-78A9-26BCBB16010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FECE5E8-1F44-195B-224A-E6CF34110892}"/>
              </a:ext>
            </a:extLst>
          </p:cNvPr>
          <p:cNvSpPr>
            <a:spLocks noGrp="1"/>
          </p:cNvSpPr>
          <p:nvPr>
            <p:ph type="sldNum" sz="quarter" idx="12"/>
          </p:nvPr>
        </p:nvSpPr>
        <p:spPr/>
        <p:txBody>
          <a:bodyPr/>
          <a:lstStyle/>
          <a:p>
            <a:fld id="{C7571637-07CB-45BE-AFC4-1025A0BBE380}" type="slidenum">
              <a:rPr lang="fr-FR" smtClean="0"/>
              <a:t>‹N°›</a:t>
            </a:fld>
            <a:endParaRPr lang="fr-FR"/>
          </a:p>
        </p:txBody>
      </p:sp>
    </p:spTree>
    <p:extLst>
      <p:ext uri="{BB962C8B-B14F-4D97-AF65-F5344CB8AC3E}">
        <p14:creationId xmlns:p14="http://schemas.microsoft.com/office/powerpoint/2010/main" val="1273417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F912C6-A32D-E74E-3749-C7E243D0D18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4CC4E3E-CA0C-CD57-5350-816D7E84100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5506583-9397-0CD0-4208-B1D5E51C0EEC}"/>
              </a:ext>
            </a:extLst>
          </p:cNvPr>
          <p:cNvSpPr>
            <a:spLocks noGrp="1"/>
          </p:cNvSpPr>
          <p:nvPr>
            <p:ph type="dt" sz="half" idx="10"/>
          </p:nvPr>
        </p:nvSpPr>
        <p:spPr/>
        <p:txBody>
          <a:bodyPr/>
          <a:lstStyle/>
          <a:p>
            <a:fld id="{B5CC9B88-43ED-4216-BF07-D9127852E2DA}" type="datetimeFigureOut">
              <a:rPr lang="fr-FR" smtClean="0"/>
              <a:t>08/06/2026</a:t>
            </a:fld>
            <a:endParaRPr lang="fr-FR"/>
          </a:p>
        </p:txBody>
      </p:sp>
      <p:sp>
        <p:nvSpPr>
          <p:cNvPr id="5" name="Espace réservé du pied de page 4">
            <a:extLst>
              <a:ext uri="{FF2B5EF4-FFF2-40B4-BE49-F238E27FC236}">
                <a16:creationId xmlns:a16="http://schemas.microsoft.com/office/drawing/2014/main" id="{16C94F7F-594F-1F93-EA0C-77CC4B89F37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C34546D-FCAA-6662-1336-823AC08818AD}"/>
              </a:ext>
            </a:extLst>
          </p:cNvPr>
          <p:cNvSpPr>
            <a:spLocks noGrp="1"/>
          </p:cNvSpPr>
          <p:nvPr>
            <p:ph type="sldNum" sz="quarter" idx="12"/>
          </p:nvPr>
        </p:nvSpPr>
        <p:spPr/>
        <p:txBody>
          <a:bodyPr/>
          <a:lstStyle/>
          <a:p>
            <a:fld id="{C7571637-07CB-45BE-AFC4-1025A0BBE380}" type="slidenum">
              <a:rPr lang="fr-FR" smtClean="0"/>
              <a:t>‹N°›</a:t>
            </a:fld>
            <a:endParaRPr lang="fr-FR"/>
          </a:p>
        </p:txBody>
      </p:sp>
    </p:spTree>
    <p:extLst>
      <p:ext uri="{BB962C8B-B14F-4D97-AF65-F5344CB8AC3E}">
        <p14:creationId xmlns:p14="http://schemas.microsoft.com/office/powerpoint/2010/main" val="2008254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38DA7B2-342F-010B-9413-D54D9AADC89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17E27BA-64D5-6E16-1239-18AA9DC55D8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FB4AC62-F091-2AD5-FC76-48B7EC825C11}"/>
              </a:ext>
            </a:extLst>
          </p:cNvPr>
          <p:cNvSpPr>
            <a:spLocks noGrp="1"/>
          </p:cNvSpPr>
          <p:nvPr>
            <p:ph type="dt" sz="half" idx="10"/>
          </p:nvPr>
        </p:nvSpPr>
        <p:spPr/>
        <p:txBody>
          <a:bodyPr/>
          <a:lstStyle/>
          <a:p>
            <a:fld id="{B5CC9B88-43ED-4216-BF07-D9127852E2DA}" type="datetimeFigureOut">
              <a:rPr lang="fr-FR" smtClean="0"/>
              <a:t>08/06/2026</a:t>
            </a:fld>
            <a:endParaRPr lang="fr-FR"/>
          </a:p>
        </p:txBody>
      </p:sp>
      <p:sp>
        <p:nvSpPr>
          <p:cNvPr id="5" name="Espace réservé du pied de page 4">
            <a:extLst>
              <a:ext uri="{FF2B5EF4-FFF2-40B4-BE49-F238E27FC236}">
                <a16:creationId xmlns:a16="http://schemas.microsoft.com/office/drawing/2014/main" id="{CFFB76E3-5074-8234-0E86-3BC5FB40AAB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804C9FA-3441-767C-98B0-AB5D24A0CE4D}"/>
              </a:ext>
            </a:extLst>
          </p:cNvPr>
          <p:cNvSpPr>
            <a:spLocks noGrp="1"/>
          </p:cNvSpPr>
          <p:nvPr>
            <p:ph type="sldNum" sz="quarter" idx="12"/>
          </p:nvPr>
        </p:nvSpPr>
        <p:spPr/>
        <p:txBody>
          <a:bodyPr/>
          <a:lstStyle/>
          <a:p>
            <a:fld id="{C7571637-07CB-45BE-AFC4-1025A0BBE380}" type="slidenum">
              <a:rPr lang="fr-FR" smtClean="0"/>
              <a:t>‹N°›</a:t>
            </a:fld>
            <a:endParaRPr lang="fr-FR"/>
          </a:p>
        </p:txBody>
      </p:sp>
    </p:spTree>
    <p:extLst>
      <p:ext uri="{BB962C8B-B14F-4D97-AF65-F5344CB8AC3E}">
        <p14:creationId xmlns:p14="http://schemas.microsoft.com/office/powerpoint/2010/main" val="12384054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Fin">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3418FF75-762E-A140-D280-C095506EA5E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Espace réservé du texte 10">
            <a:extLst>
              <a:ext uri="{FF2B5EF4-FFF2-40B4-BE49-F238E27FC236}">
                <a16:creationId xmlns:a16="http://schemas.microsoft.com/office/drawing/2014/main" id="{63EEAF1E-3A88-CAF4-9766-FB53BC261F46}"/>
              </a:ext>
            </a:extLst>
          </p:cNvPr>
          <p:cNvSpPr>
            <a:spLocks noGrp="1"/>
          </p:cNvSpPr>
          <p:nvPr>
            <p:ph type="body" sz="quarter" idx="10" hasCustomPrompt="1"/>
          </p:nvPr>
        </p:nvSpPr>
        <p:spPr>
          <a:xfrm>
            <a:off x="-696321" y="2084852"/>
            <a:ext cx="2783384" cy="2305049"/>
          </a:xfrm>
        </p:spPr>
        <p:txBody>
          <a:bodyPr/>
          <a:lstStyle>
            <a:lvl1pPr>
              <a:defRPr sz="14000">
                <a:solidFill>
                  <a:schemeClr val="bg1"/>
                </a:solidFill>
                <a:latin typeface="Arial Black" panose="020B0A04020102020204" pitchFamily="34" charset="0"/>
              </a:defRPr>
            </a:lvl1pPr>
          </a:lstStyle>
          <a:p>
            <a:pPr lvl="0"/>
            <a:r>
              <a:rPr lang="fr-FR" dirty="0"/>
              <a:t>01</a:t>
            </a:r>
          </a:p>
        </p:txBody>
      </p:sp>
      <p:sp>
        <p:nvSpPr>
          <p:cNvPr id="13" name="Espace réservé du texte 12">
            <a:extLst>
              <a:ext uri="{FF2B5EF4-FFF2-40B4-BE49-F238E27FC236}">
                <a16:creationId xmlns:a16="http://schemas.microsoft.com/office/drawing/2014/main" id="{EBFB5EF5-D82C-3A5E-9AEA-257B06FDBB18}"/>
              </a:ext>
            </a:extLst>
          </p:cNvPr>
          <p:cNvSpPr>
            <a:spLocks noGrp="1"/>
          </p:cNvSpPr>
          <p:nvPr>
            <p:ph type="body" sz="quarter" idx="11" hasCustomPrompt="1"/>
          </p:nvPr>
        </p:nvSpPr>
        <p:spPr>
          <a:xfrm>
            <a:off x="2351617" y="2084918"/>
            <a:ext cx="5856816" cy="2495549"/>
          </a:xfrm>
        </p:spPr>
        <p:txBody>
          <a:bodyPr/>
          <a:lstStyle>
            <a:lvl1pPr>
              <a:defRPr sz="7200">
                <a:solidFill>
                  <a:schemeClr val="bg1"/>
                </a:solidFill>
                <a:latin typeface="Arial Black" panose="020B0A04020102020204" pitchFamily="34" charset="0"/>
              </a:defRPr>
            </a:lvl1pPr>
          </a:lstStyle>
          <a:p>
            <a:pPr lvl="0"/>
            <a:r>
              <a:rPr lang="fr-FR" dirty="0"/>
              <a:t>TITRE DE LA PARTIE</a:t>
            </a:r>
          </a:p>
        </p:txBody>
      </p:sp>
    </p:spTree>
    <p:extLst>
      <p:ext uri="{BB962C8B-B14F-4D97-AF65-F5344CB8AC3E}">
        <p14:creationId xmlns:p14="http://schemas.microsoft.com/office/powerpoint/2010/main" val="32790775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pic>
        <p:nvPicPr>
          <p:cNvPr id="8" name="Picture 17">
            <a:extLst>
              <a:ext uri="{FF2B5EF4-FFF2-40B4-BE49-F238E27FC236}">
                <a16:creationId xmlns:a16="http://schemas.microsoft.com/office/drawing/2014/main" id="{BB26E1F4-F7A7-A220-FCE5-CD1B1D2A9081}"/>
              </a:ext>
            </a:extLst>
          </p:cNvPr>
          <p:cNvPicPr/>
          <p:nvPr userDrawn="1"/>
        </p:nvPicPr>
        <p:blipFill>
          <a:blip r:embed="rId2"/>
          <a:stretch>
            <a:fillRect/>
          </a:stretch>
        </p:blipFill>
        <p:spPr>
          <a:xfrm>
            <a:off x="0" y="0"/>
            <a:ext cx="12192000" cy="6858000"/>
          </a:xfrm>
          <a:prstGeom prst="rect">
            <a:avLst/>
          </a:prstGeom>
        </p:spPr>
      </p:pic>
      <p:sp>
        <p:nvSpPr>
          <p:cNvPr id="15" name="Espace réservé du texte 14">
            <a:extLst>
              <a:ext uri="{FF2B5EF4-FFF2-40B4-BE49-F238E27FC236}">
                <a16:creationId xmlns:a16="http://schemas.microsoft.com/office/drawing/2014/main" id="{3B922872-5C0E-49C2-BBD7-26B35F692D89}"/>
              </a:ext>
            </a:extLst>
          </p:cNvPr>
          <p:cNvSpPr>
            <a:spLocks noGrp="1"/>
          </p:cNvSpPr>
          <p:nvPr>
            <p:ph type="body" sz="quarter" idx="10" hasCustomPrompt="1"/>
          </p:nvPr>
        </p:nvSpPr>
        <p:spPr>
          <a:xfrm>
            <a:off x="431371" y="115034"/>
            <a:ext cx="2785533" cy="433647"/>
          </a:xfrm>
        </p:spPr>
        <p:txBody>
          <a:bodyPr/>
          <a:lstStyle>
            <a:lvl1pPr>
              <a:defRPr sz="1600">
                <a:latin typeface="+mn-lt"/>
              </a:defRPr>
            </a:lvl1pPr>
          </a:lstStyle>
          <a:p>
            <a:pPr lvl="0"/>
            <a:r>
              <a:rPr lang="fr-FR" dirty="0"/>
              <a:t>01 TITRE DE LA PARTIE</a:t>
            </a:r>
          </a:p>
        </p:txBody>
      </p:sp>
      <p:sp>
        <p:nvSpPr>
          <p:cNvPr id="17" name="Espace réservé du texte 16">
            <a:extLst>
              <a:ext uri="{FF2B5EF4-FFF2-40B4-BE49-F238E27FC236}">
                <a16:creationId xmlns:a16="http://schemas.microsoft.com/office/drawing/2014/main" id="{4EBFBF94-ACE8-A85E-C55E-E5E263B913C7}"/>
              </a:ext>
            </a:extLst>
          </p:cNvPr>
          <p:cNvSpPr>
            <a:spLocks noGrp="1"/>
          </p:cNvSpPr>
          <p:nvPr>
            <p:ph type="body" sz="quarter" idx="11" hasCustomPrompt="1"/>
          </p:nvPr>
        </p:nvSpPr>
        <p:spPr>
          <a:xfrm>
            <a:off x="409847" y="890022"/>
            <a:ext cx="7200536" cy="1011449"/>
          </a:xfrm>
        </p:spPr>
        <p:txBody>
          <a:bodyPr/>
          <a:lstStyle>
            <a:lvl1pPr>
              <a:defRPr sz="5333" b="1">
                <a:latin typeface="+mn-lt"/>
              </a:defRPr>
            </a:lvl1pPr>
          </a:lstStyle>
          <a:p>
            <a:pPr lvl="0"/>
            <a:r>
              <a:rPr lang="fr-FR" dirty="0"/>
              <a:t>SOUS-TITRE PARTIE</a:t>
            </a:r>
          </a:p>
        </p:txBody>
      </p:sp>
      <p:sp>
        <p:nvSpPr>
          <p:cNvPr id="19" name="Espace réservé du texte 18">
            <a:extLst>
              <a:ext uri="{FF2B5EF4-FFF2-40B4-BE49-F238E27FC236}">
                <a16:creationId xmlns:a16="http://schemas.microsoft.com/office/drawing/2014/main" id="{9F112F81-2871-E7D5-ADA1-198BBD968FE2}"/>
              </a:ext>
            </a:extLst>
          </p:cNvPr>
          <p:cNvSpPr>
            <a:spLocks noGrp="1"/>
          </p:cNvSpPr>
          <p:nvPr>
            <p:ph type="body" sz="quarter" idx="12" hasCustomPrompt="1"/>
          </p:nvPr>
        </p:nvSpPr>
        <p:spPr>
          <a:xfrm>
            <a:off x="431371" y="2151862"/>
            <a:ext cx="5567759" cy="738716"/>
          </a:xfrm>
        </p:spPr>
        <p:txBody>
          <a:bodyPr/>
          <a:lstStyle>
            <a:lvl1pPr>
              <a:defRPr sz="2933" b="1">
                <a:latin typeface="+mn-lt"/>
              </a:defRPr>
            </a:lvl1pPr>
            <a:lvl2pPr>
              <a:buNone/>
              <a:defRPr/>
            </a:lvl2pPr>
            <a:lvl3pPr>
              <a:buNone/>
              <a:defRPr/>
            </a:lvl3pPr>
            <a:lvl4pPr>
              <a:buNone/>
              <a:defRPr/>
            </a:lvl4pPr>
            <a:lvl5pPr>
              <a:defRPr/>
            </a:lvl5pPr>
          </a:lstStyle>
          <a:p>
            <a:pPr lvl="0"/>
            <a:r>
              <a:rPr lang="fr-FR" dirty="0"/>
              <a:t>Différents niveaux de titrage</a:t>
            </a:r>
          </a:p>
        </p:txBody>
      </p:sp>
      <p:sp>
        <p:nvSpPr>
          <p:cNvPr id="21" name="Espace réservé du texte 20">
            <a:extLst>
              <a:ext uri="{FF2B5EF4-FFF2-40B4-BE49-F238E27FC236}">
                <a16:creationId xmlns:a16="http://schemas.microsoft.com/office/drawing/2014/main" id="{41F4205F-8A79-DAAE-ADBC-80E53F003273}"/>
              </a:ext>
            </a:extLst>
          </p:cNvPr>
          <p:cNvSpPr>
            <a:spLocks noGrp="1"/>
          </p:cNvSpPr>
          <p:nvPr>
            <p:ph type="body" sz="quarter" idx="13" hasCustomPrompt="1"/>
          </p:nvPr>
        </p:nvSpPr>
        <p:spPr>
          <a:xfrm>
            <a:off x="431801" y="3429001"/>
            <a:ext cx="5566833" cy="3071284"/>
          </a:xfrm>
        </p:spPr>
        <p:txBody>
          <a:bodyPr/>
          <a:lstStyle>
            <a:lvl1pPr>
              <a:defRPr sz="1733">
                <a:latin typeface="+mn-lt"/>
              </a:defRPr>
            </a:lvl1pPr>
          </a:lstStyle>
          <a:p>
            <a:pPr lvl="0"/>
            <a:r>
              <a:rPr lang="fr-FR" dirty="0"/>
              <a:t>Modifier le texte</a:t>
            </a:r>
          </a:p>
        </p:txBody>
      </p:sp>
      <p:sp>
        <p:nvSpPr>
          <p:cNvPr id="23" name="Espace réservé du texte 22">
            <a:extLst>
              <a:ext uri="{FF2B5EF4-FFF2-40B4-BE49-F238E27FC236}">
                <a16:creationId xmlns:a16="http://schemas.microsoft.com/office/drawing/2014/main" id="{A0903ED5-2544-3D02-E43B-4181EE8C3976}"/>
              </a:ext>
            </a:extLst>
          </p:cNvPr>
          <p:cNvSpPr>
            <a:spLocks noGrp="1"/>
          </p:cNvSpPr>
          <p:nvPr>
            <p:ph type="body" sz="quarter" idx="14" hasCustomPrompt="1"/>
          </p:nvPr>
        </p:nvSpPr>
        <p:spPr>
          <a:xfrm>
            <a:off x="6383867" y="3429001"/>
            <a:ext cx="5376333" cy="3071284"/>
          </a:xfrm>
        </p:spPr>
        <p:txBody>
          <a:bodyPr/>
          <a:lstStyle>
            <a:lvl1pPr>
              <a:defRPr sz="1733">
                <a:latin typeface="+mn-lt"/>
              </a:defRPr>
            </a:lvl1pPr>
          </a:lstStyle>
          <a:p>
            <a:pPr lvl="0"/>
            <a:r>
              <a:rPr lang="fr-FR" dirty="0"/>
              <a:t>Modifier le texte</a:t>
            </a:r>
          </a:p>
        </p:txBody>
      </p:sp>
    </p:spTree>
    <p:extLst>
      <p:ext uri="{BB962C8B-B14F-4D97-AF65-F5344CB8AC3E}">
        <p14:creationId xmlns:p14="http://schemas.microsoft.com/office/powerpoint/2010/main" val="129452644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pic>
        <p:nvPicPr>
          <p:cNvPr id="8" name="Picture 17">
            <a:extLst>
              <a:ext uri="{FF2B5EF4-FFF2-40B4-BE49-F238E27FC236}">
                <a16:creationId xmlns:a16="http://schemas.microsoft.com/office/drawing/2014/main" id="{BB26E1F4-F7A7-A220-FCE5-CD1B1D2A9081}"/>
              </a:ext>
            </a:extLst>
          </p:cNvPr>
          <p:cNvPicPr/>
          <p:nvPr userDrawn="1"/>
        </p:nvPicPr>
        <p:blipFill>
          <a:blip r:embed="rId2"/>
          <a:stretch>
            <a:fillRect/>
          </a:stretch>
        </p:blipFill>
        <p:spPr>
          <a:xfrm>
            <a:off x="0" y="0"/>
            <a:ext cx="12192000" cy="6858000"/>
          </a:xfrm>
          <a:prstGeom prst="rect">
            <a:avLst/>
          </a:prstGeom>
        </p:spPr>
      </p:pic>
      <p:sp>
        <p:nvSpPr>
          <p:cNvPr id="15" name="Espace réservé du texte 14">
            <a:extLst>
              <a:ext uri="{FF2B5EF4-FFF2-40B4-BE49-F238E27FC236}">
                <a16:creationId xmlns:a16="http://schemas.microsoft.com/office/drawing/2014/main" id="{3B922872-5C0E-49C2-BBD7-26B35F692D89}"/>
              </a:ext>
            </a:extLst>
          </p:cNvPr>
          <p:cNvSpPr>
            <a:spLocks noGrp="1"/>
          </p:cNvSpPr>
          <p:nvPr>
            <p:ph type="body" sz="quarter" idx="10" hasCustomPrompt="1"/>
          </p:nvPr>
        </p:nvSpPr>
        <p:spPr>
          <a:xfrm>
            <a:off x="431371" y="115034"/>
            <a:ext cx="2785533" cy="433647"/>
          </a:xfrm>
        </p:spPr>
        <p:txBody>
          <a:bodyPr/>
          <a:lstStyle>
            <a:lvl1pPr>
              <a:defRPr sz="1600">
                <a:latin typeface="+mn-lt"/>
              </a:defRPr>
            </a:lvl1pPr>
          </a:lstStyle>
          <a:p>
            <a:pPr lvl="0"/>
            <a:r>
              <a:rPr lang="fr-FR" dirty="0"/>
              <a:t>01 TITRE DE LA PARTIE</a:t>
            </a:r>
          </a:p>
        </p:txBody>
      </p:sp>
      <p:sp>
        <p:nvSpPr>
          <p:cNvPr id="17" name="Espace réservé du texte 16">
            <a:extLst>
              <a:ext uri="{FF2B5EF4-FFF2-40B4-BE49-F238E27FC236}">
                <a16:creationId xmlns:a16="http://schemas.microsoft.com/office/drawing/2014/main" id="{4EBFBF94-ACE8-A85E-C55E-E5E263B913C7}"/>
              </a:ext>
            </a:extLst>
          </p:cNvPr>
          <p:cNvSpPr>
            <a:spLocks noGrp="1"/>
          </p:cNvSpPr>
          <p:nvPr>
            <p:ph type="body" sz="quarter" idx="11" hasCustomPrompt="1"/>
          </p:nvPr>
        </p:nvSpPr>
        <p:spPr>
          <a:xfrm>
            <a:off x="409847" y="890022"/>
            <a:ext cx="7200536" cy="1011449"/>
          </a:xfrm>
        </p:spPr>
        <p:txBody>
          <a:bodyPr/>
          <a:lstStyle>
            <a:lvl1pPr>
              <a:defRPr sz="5333" b="1">
                <a:latin typeface="+mn-lt"/>
              </a:defRPr>
            </a:lvl1pPr>
          </a:lstStyle>
          <a:p>
            <a:pPr lvl="0"/>
            <a:r>
              <a:rPr lang="fr-FR" dirty="0"/>
              <a:t>SOUS-TITRE PARTIE</a:t>
            </a:r>
          </a:p>
        </p:txBody>
      </p:sp>
      <p:sp>
        <p:nvSpPr>
          <p:cNvPr id="19" name="Espace réservé du texte 18">
            <a:extLst>
              <a:ext uri="{FF2B5EF4-FFF2-40B4-BE49-F238E27FC236}">
                <a16:creationId xmlns:a16="http://schemas.microsoft.com/office/drawing/2014/main" id="{9F112F81-2871-E7D5-ADA1-198BBD968FE2}"/>
              </a:ext>
            </a:extLst>
          </p:cNvPr>
          <p:cNvSpPr>
            <a:spLocks noGrp="1"/>
          </p:cNvSpPr>
          <p:nvPr>
            <p:ph type="body" sz="quarter" idx="12" hasCustomPrompt="1"/>
          </p:nvPr>
        </p:nvSpPr>
        <p:spPr>
          <a:xfrm>
            <a:off x="431371" y="2151862"/>
            <a:ext cx="5567759" cy="738716"/>
          </a:xfrm>
        </p:spPr>
        <p:txBody>
          <a:bodyPr/>
          <a:lstStyle>
            <a:lvl1pPr>
              <a:defRPr sz="2933" b="1">
                <a:latin typeface="+mn-lt"/>
              </a:defRPr>
            </a:lvl1pPr>
            <a:lvl2pPr>
              <a:buNone/>
              <a:defRPr/>
            </a:lvl2pPr>
            <a:lvl3pPr>
              <a:buNone/>
              <a:defRPr/>
            </a:lvl3pPr>
            <a:lvl4pPr>
              <a:buNone/>
              <a:defRPr/>
            </a:lvl4pPr>
            <a:lvl5pPr>
              <a:defRPr/>
            </a:lvl5pPr>
          </a:lstStyle>
          <a:p>
            <a:pPr lvl="0"/>
            <a:r>
              <a:rPr lang="fr-FR" dirty="0"/>
              <a:t>Différents niveaux de titrage</a:t>
            </a:r>
          </a:p>
        </p:txBody>
      </p:sp>
      <p:sp>
        <p:nvSpPr>
          <p:cNvPr id="21" name="Espace réservé du texte 20">
            <a:extLst>
              <a:ext uri="{FF2B5EF4-FFF2-40B4-BE49-F238E27FC236}">
                <a16:creationId xmlns:a16="http://schemas.microsoft.com/office/drawing/2014/main" id="{41F4205F-8A79-DAAE-ADBC-80E53F003273}"/>
              </a:ext>
            </a:extLst>
          </p:cNvPr>
          <p:cNvSpPr>
            <a:spLocks noGrp="1"/>
          </p:cNvSpPr>
          <p:nvPr>
            <p:ph type="body" sz="quarter" idx="13" hasCustomPrompt="1"/>
          </p:nvPr>
        </p:nvSpPr>
        <p:spPr>
          <a:xfrm>
            <a:off x="431801" y="3429001"/>
            <a:ext cx="5566833" cy="3071284"/>
          </a:xfrm>
        </p:spPr>
        <p:txBody>
          <a:bodyPr/>
          <a:lstStyle>
            <a:lvl1pPr>
              <a:defRPr sz="1733">
                <a:latin typeface="+mn-lt"/>
              </a:defRPr>
            </a:lvl1pPr>
          </a:lstStyle>
          <a:p>
            <a:pPr lvl="0"/>
            <a:r>
              <a:rPr lang="fr-FR" dirty="0"/>
              <a:t>Modifier le texte</a:t>
            </a:r>
          </a:p>
        </p:txBody>
      </p:sp>
      <p:sp>
        <p:nvSpPr>
          <p:cNvPr id="23" name="Espace réservé du texte 22">
            <a:extLst>
              <a:ext uri="{FF2B5EF4-FFF2-40B4-BE49-F238E27FC236}">
                <a16:creationId xmlns:a16="http://schemas.microsoft.com/office/drawing/2014/main" id="{A0903ED5-2544-3D02-E43B-4181EE8C3976}"/>
              </a:ext>
            </a:extLst>
          </p:cNvPr>
          <p:cNvSpPr>
            <a:spLocks noGrp="1"/>
          </p:cNvSpPr>
          <p:nvPr>
            <p:ph type="body" sz="quarter" idx="14" hasCustomPrompt="1"/>
          </p:nvPr>
        </p:nvSpPr>
        <p:spPr>
          <a:xfrm>
            <a:off x="6383867" y="3429001"/>
            <a:ext cx="5376333" cy="3071284"/>
          </a:xfrm>
        </p:spPr>
        <p:txBody>
          <a:bodyPr/>
          <a:lstStyle>
            <a:lvl1pPr>
              <a:defRPr sz="1733">
                <a:latin typeface="+mn-lt"/>
              </a:defRPr>
            </a:lvl1pPr>
          </a:lstStyle>
          <a:p>
            <a:pPr lvl="0"/>
            <a:r>
              <a:rPr lang="fr-FR" dirty="0"/>
              <a:t>Modifier le texte</a:t>
            </a:r>
          </a:p>
        </p:txBody>
      </p:sp>
    </p:spTree>
    <p:extLst>
      <p:ext uri="{BB962C8B-B14F-4D97-AF65-F5344CB8AC3E}">
        <p14:creationId xmlns:p14="http://schemas.microsoft.com/office/powerpoint/2010/main" val="307203145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8_Diapositive de titre">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F793669B-5032-04C8-3071-9035017400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15" name="text" title="Form.Variant.Text">
            <a:extLst>
              <a:ext uri="{FF2B5EF4-FFF2-40B4-BE49-F238E27FC236}">
                <a16:creationId xmlns:a16="http://schemas.microsoft.com/office/drawing/2014/main" id="{61353DC1-FC6C-4745-AB55-86E4FDB23369}"/>
              </a:ext>
            </a:extLst>
          </p:cNvPr>
          <p:cNvSpPr/>
          <p:nvPr userDrawn="1"/>
        </p:nvSpPr>
        <p:spPr>
          <a:xfrm>
            <a:off x="4720829" y="6501341"/>
            <a:ext cx="6463736"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933" dirty="0">
              <a:solidFill>
                <a:srgbClr val="391909"/>
              </a:solidFill>
            </a:endParaRPr>
          </a:p>
        </p:txBody>
      </p:sp>
      <p:sp>
        <p:nvSpPr>
          <p:cNvPr id="18" name="Titre 14">
            <a:extLst>
              <a:ext uri="{FF2B5EF4-FFF2-40B4-BE49-F238E27FC236}">
                <a16:creationId xmlns:a16="http://schemas.microsoft.com/office/drawing/2014/main" id="{3ACCE2BF-693F-4EA2-B4D1-4A70E61C2519}"/>
              </a:ext>
            </a:extLst>
          </p:cNvPr>
          <p:cNvSpPr>
            <a:spLocks noGrp="1"/>
          </p:cNvSpPr>
          <p:nvPr>
            <p:ph type="title" hasCustomPrompt="1"/>
          </p:nvPr>
        </p:nvSpPr>
        <p:spPr>
          <a:xfrm>
            <a:off x="431371" y="2372883"/>
            <a:ext cx="8928992" cy="1204051"/>
          </a:xfrm>
        </p:spPr>
        <p:txBody>
          <a:bodyPr anchor="t">
            <a:noAutofit/>
          </a:bodyPr>
          <a:lstStyle>
            <a:lvl1pPr algn="l">
              <a:defRPr lang="fr-FR" sz="7200" kern="1200" dirty="0">
                <a:solidFill>
                  <a:srgbClr val="381A0A"/>
                </a:solidFill>
                <a:latin typeface="Arial Black" panose="020B0A04020102020204" pitchFamily="34" charset="0"/>
                <a:ea typeface="+mj-ea"/>
                <a:cs typeface="+mj-cs"/>
              </a:defRPr>
            </a:lvl1pPr>
          </a:lstStyle>
          <a:p>
            <a:r>
              <a:rPr lang="fr-FR" dirty="0"/>
              <a:t>TITRE DE LA PRESENTATION</a:t>
            </a:r>
          </a:p>
        </p:txBody>
      </p:sp>
      <p:pic>
        <p:nvPicPr>
          <p:cNvPr id="4" name="Image 3">
            <a:extLst>
              <a:ext uri="{FF2B5EF4-FFF2-40B4-BE49-F238E27FC236}">
                <a16:creationId xmlns:a16="http://schemas.microsoft.com/office/drawing/2014/main" id="{8466DFA0-2F2C-B3C7-6CD6-EB7DF878FB90}"/>
              </a:ext>
            </a:extLst>
          </p:cNvPr>
          <p:cNvPicPr>
            <a:picLocks noChangeAspect="1"/>
          </p:cNvPicPr>
          <p:nvPr userDrawn="1"/>
        </p:nvPicPr>
        <p:blipFill>
          <a:blip r:embed="rId3"/>
          <a:stretch>
            <a:fillRect/>
          </a:stretch>
        </p:blipFill>
        <p:spPr>
          <a:xfrm>
            <a:off x="431371" y="836712"/>
            <a:ext cx="2243523" cy="487723"/>
          </a:xfrm>
          <a:prstGeom prst="rect">
            <a:avLst/>
          </a:prstGeom>
        </p:spPr>
      </p:pic>
      <p:sp>
        <p:nvSpPr>
          <p:cNvPr id="12" name="Espace réservé du texte 16">
            <a:extLst>
              <a:ext uri="{FF2B5EF4-FFF2-40B4-BE49-F238E27FC236}">
                <a16:creationId xmlns:a16="http://schemas.microsoft.com/office/drawing/2014/main" id="{8EF29CAA-511D-2558-C126-61542A42AFB9}"/>
              </a:ext>
            </a:extLst>
          </p:cNvPr>
          <p:cNvSpPr>
            <a:spLocks noGrp="1"/>
          </p:cNvSpPr>
          <p:nvPr>
            <p:ph type="body" sz="quarter" idx="11" hasCustomPrompt="1"/>
          </p:nvPr>
        </p:nvSpPr>
        <p:spPr>
          <a:xfrm>
            <a:off x="623392" y="5446262"/>
            <a:ext cx="4512733" cy="863169"/>
          </a:xfrm>
        </p:spPr>
        <p:txBody>
          <a:bodyPr anchor="b">
            <a:normAutofit/>
          </a:bodyPr>
          <a:lstStyle>
            <a:lvl1pPr marL="0" indent="0">
              <a:buNone/>
              <a:defRPr lang="fr-FR" sz="1467" kern="1200" baseline="0" dirty="0">
                <a:solidFill>
                  <a:srgbClr val="381A0A"/>
                </a:solidFill>
                <a:latin typeface="+mn-lt"/>
                <a:ea typeface="+mn-ea"/>
                <a:cs typeface="+mn-cs"/>
              </a:defRPr>
            </a:lvl1pPr>
            <a:lvl5pPr>
              <a:defRPr/>
            </a:lvl5pPr>
          </a:lstStyle>
          <a:p>
            <a:pPr lvl="0"/>
            <a:r>
              <a:rPr lang="fr-FR" dirty="0"/>
              <a:t>Si besoin : Intervenants et Destinataires</a:t>
            </a:r>
          </a:p>
        </p:txBody>
      </p:sp>
    </p:spTree>
    <p:extLst>
      <p:ext uri="{BB962C8B-B14F-4D97-AF65-F5344CB8AC3E}">
        <p14:creationId xmlns:p14="http://schemas.microsoft.com/office/powerpoint/2010/main" val="1881126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BE39F94-07F6-906A-F468-2663DECAEF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C543C45-2FFA-E05C-7D39-0921686AE5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B43DFB4-3DC8-B269-63C6-A3B468BB3A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CC9B88-43ED-4216-BF07-D9127852E2DA}" type="datetimeFigureOut">
              <a:rPr lang="fr-FR" smtClean="0"/>
              <a:t>08/06/2026</a:t>
            </a:fld>
            <a:endParaRPr lang="fr-FR"/>
          </a:p>
        </p:txBody>
      </p:sp>
      <p:sp>
        <p:nvSpPr>
          <p:cNvPr id="5" name="Espace réservé du pied de page 4">
            <a:extLst>
              <a:ext uri="{FF2B5EF4-FFF2-40B4-BE49-F238E27FC236}">
                <a16:creationId xmlns:a16="http://schemas.microsoft.com/office/drawing/2014/main" id="{C02CCA91-85D9-FA5F-F06D-C7A4EC35DD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871F0FCA-FDAD-5FB6-3F2B-6E96CD0F71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571637-07CB-45BE-AFC4-1025A0BBE380}" type="slidenum">
              <a:rPr lang="fr-FR" smtClean="0"/>
              <a:t>‹N°›</a:t>
            </a:fld>
            <a:endParaRPr lang="fr-FR"/>
          </a:p>
        </p:txBody>
      </p:sp>
    </p:spTree>
    <p:extLst>
      <p:ext uri="{BB962C8B-B14F-4D97-AF65-F5344CB8AC3E}">
        <p14:creationId xmlns:p14="http://schemas.microsoft.com/office/powerpoint/2010/main" val="17307403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8_F511175A.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4.jpg"/><Relationship Id="rId3" Type="http://schemas.openxmlformats.org/officeDocument/2006/relationships/diagramLayout" Target="../diagrams/layout1.xml"/><Relationship Id="rId7" Type="http://schemas.openxmlformats.org/officeDocument/2006/relationships/image" Target="../media/image23.jp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27.svg"/><Relationship Id="rId5" Type="http://schemas.openxmlformats.org/officeDocument/2006/relationships/diagramColors" Target="../diagrams/colors1.xml"/><Relationship Id="rId10" Type="http://schemas.openxmlformats.org/officeDocument/2006/relationships/image" Target="../media/image26.svg"/><Relationship Id="rId4" Type="http://schemas.openxmlformats.org/officeDocument/2006/relationships/diagramQuickStyle" Target="../diagrams/quickStyle1.xml"/><Relationship Id="rId9"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jpeg"/><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30.sv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2.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BBCBCBF6-6D1B-E15C-3FDB-702606B6BFE6}"/>
              </a:ext>
            </a:extLst>
          </p:cNvPr>
          <p:cNvSpPr>
            <a:spLocks noGrp="1"/>
          </p:cNvSpPr>
          <p:nvPr>
            <p:ph type="title"/>
          </p:nvPr>
        </p:nvSpPr>
        <p:spPr>
          <a:xfrm>
            <a:off x="431371" y="2372883"/>
            <a:ext cx="8928992" cy="1204051"/>
          </a:xfrm>
        </p:spPr>
        <p:txBody>
          <a:bodyPr/>
          <a:lstStyle/>
          <a:p>
            <a:r>
              <a:rPr lang="fr-FR" sz="4800" dirty="0"/>
              <a:t>Comité déshérence</a:t>
            </a:r>
            <a:br>
              <a:rPr lang="fr-FR" sz="4800" dirty="0"/>
            </a:br>
            <a:r>
              <a:rPr lang="fr-FR" sz="2000" dirty="0"/>
              <a:t>15 juin 2026</a:t>
            </a:r>
          </a:p>
        </p:txBody>
      </p:sp>
      <p:sp>
        <p:nvSpPr>
          <p:cNvPr id="6" name="Espace réservé du texte 2">
            <a:extLst>
              <a:ext uri="{FF2B5EF4-FFF2-40B4-BE49-F238E27FC236}">
                <a16:creationId xmlns:a16="http://schemas.microsoft.com/office/drawing/2014/main" id="{B993F659-E66A-7DC6-FEB1-EA79E4E6BDA5}"/>
              </a:ext>
            </a:extLst>
          </p:cNvPr>
          <p:cNvSpPr>
            <a:spLocks noGrp="1"/>
          </p:cNvSpPr>
          <p:nvPr>
            <p:ph type="body" sz="quarter" idx="11"/>
          </p:nvPr>
        </p:nvSpPr>
        <p:spPr>
          <a:xfrm>
            <a:off x="623392" y="5446262"/>
            <a:ext cx="4512733" cy="863169"/>
          </a:xfrm>
        </p:spPr>
        <p:txBody>
          <a:bodyPr/>
          <a:lstStyle/>
          <a:p>
            <a:r>
              <a:rPr lang="fr-FR" dirty="0"/>
              <a:t>Direction de la conformité</a:t>
            </a:r>
          </a:p>
        </p:txBody>
      </p:sp>
    </p:spTree>
    <p:extLst>
      <p:ext uri="{BB962C8B-B14F-4D97-AF65-F5344CB8AC3E}">
        <p14:creationId xmlns:p14="http://schemas.microsoft.com/office/powerpoint/2010/main" val="2831126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78FD39-ED12-A034-6C7F-724C53E3ACE0}"/>
              </a:ext>
            </a:extLst>
          </p:cNvPr>
          <p:cNvPicPr>
            <a:picLocks noGrp="1" noRot="1" noChangeAspect="1" noMove="1" noResize="1" noEditPoints="1" noAdjustHandles="1" noChangeArrowheads="1" noChangeShapeType="1" noCrop="1"/>
          </p:cNvPicPr>
          <p:nvPr/>
        </p:nvPicPr>
        <p:blipFill>
          <a:blip r:embed="rId2"/>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E942D4A6-8027-4CA5-EF8B-6D455B13975A}"/>
              </a:ext>
            </a:extLst>
          </p:cNvPr>
          <p:cNvSpPr txBox="1">
            <a:spLocks noGrp="1" noRot="1" noMove="1" noResize="1" noEditPoints="1" noAdjustHandles="1" noChangeArrowheads="1" noChangeShapeType="1"/>
          </p:cNvSpPr>
          <p:nvPr/>
        </p:nvSpPr>
        <p:spPr>
          <a:xfrm>
            <a:off x="462752" y="2958581"/>
            <a:ext cx="3131813" cy="1396857"/>
          </a:xfrm>
          <a:prstGeom prst="rect">
            <a:avLst/>
          </a:prstGeom>
          <a:noFill/>
        </p:spPr>
        <p:txBody>
          <a:bodyPr wrap="square" rtlCol="0">
            <a:spAutoFit/>
          </a:bodyPr>
          <a:lstStyle/>
          <a:p>
            <a:pPr>
              <a:lnSpc>
                <a:spcPts val="5000"/>
              </a:lnSpc>
            </a:pPr>
            <a:r>
              <a:rPr lang="en-US" sz="5400" b="1" dirty="0">
                <a:solidFill>
                  <a:srgbClr val="381A09"/>
                </a:solidFill>
                <a:latin typeface="Arial Black" panose="020B0604020202020204" pitchFamily="34" charset="0"/>
                <a:cs typeface="Arial Black" panose="020B0604020202020204" pitchFamily="34" charset="0"/>
              </a:rPr>
              <a:t>SOM-MAIRE</a:t>
            </a:r>
          </a:p>
        </p:txBody>
      </p:sp>
      <p:sp>
        <p:nvSpPr>
          <p:cNvPr id="15" name="TextBox 14">
            <a:extLst>
              <a:ext uri="{FF2B5EF4-FFF2-40B4-BE49-F238E27FC236}">
                <a16:creationId xmlns:a16="http://schemas.microsoft.com/office/drawing/2014/main" id="{108F8B4B-A9D5-75BF-0AFA-FB8FD3A83FA1}"/>
              </a:ext>
            </a:extLst>
          </p:cNvPr>
          <p:cNvSpPr txBox="1">
            <a:spLocks noGrp="1" noRot="1" noMove="1" noResize="1" noEditPoints="1" noAdjustHandles="1" noChangeArrowheads="1" noChangeShapeType="1"/>
          </p:cNvSpPr>
          <p:nvPr/>
        </p:nvSpPr>
        <p:spPr>
          <a:xfrm>
            <a:off x="4509923" y="1559000"/>
            <a:ext cx="6113252" cy="3365024"/>
          </a:xfrm>
          <a:prstGeom prst="rect">
            <a:avLst/>
          </a:prstGeom>
          <a:noFill/>
        </p:spPr>
        <p:txBody>
          <a:bodyPr wrap="square" rtlCol="0">
            <a:spAutoFit/>
          </a:bodyPr>
          <a:lstStyle/>
          <a:p>
            <a:pPr>
              <a:lnSpc>
                <a:spcPct val="150000"/>
              </a:lnSpc>
            </a:pPr>
            <a:r>
              <a:rPr lang="en-US" b="1" dirty="0">
                <a:solidFill>
                  <a:srgbClr val="381A09"/>
                </a:solidFill>
                <a:latin typeface="Arial" panose="020B0604020202020204" pitchFamily="34" charset="0"/>
                <a:cs typeface="Arial" panose="020B0604020202020204" pitchFamily="34" charset="0"/>
              </a:rPr>
              <a:t>01   </a:t>
            </a:r>
            <a:r>
              <a:rPr lang="en-US" b="1" dirty="0" err="1">
                <a:solidFill>
                  <a:srgbClr val="381A09"/>
                </a:solidFill>
                <a:latin typeface="Arial" panose="020B0604020202020204" pitchFamily="34" charset="0"/>
                <a:cs typeface="Arial" panose="020B0604020202020204" pitchFamily="34" charset="0"/>
              </a:rPr>
              <a:t>Actualités</a:t>
            </a:r>
            <a:endParaRPr lang="en-US" b="1" dirty="0">
              <a:solidFill>
                <a:srgbClr val="381A09"/>
              </a:solidFill>
              <a:latin typeface="Arial" panose="020B0604020202020204" pitchFamily="34" charset="0"/>
              <a:cs typeface="Arial" panose="020B0604020202020204" pitchFamily="34" charset="0"/>
            </a:endParaRPr>
          </a:p>
          <a:p>
            <a:pPr>
              <a:lnSpc>
                <a:spcPct val="150000"/>
              </a:lnSpc>
            </a:pPr>
            <a:r>
              <a:rPr lang="en-US" b="1" dirty="0">
                <a:solidFill>
                  <a:srgbClr val="381A09"/>
                </a:solidFill>
                <a:latin typeface="Arial" panose="020B0604020202020204" pitchFamily="34" charset="0"/>
                <a:cs typeface="Arial" panose="020B0604020202020204" pitchFamily="34" charset="0"/>
              </a:rPr>
              <a:t>02   Reporting réglementaire</a:t>
            </a:r>
          </a:p>
          <a:p>
            <a:pPr>
              <a:lnSpc>
                <a:spcPct val="150000"/>
              </a:lnSpc>
            </a:pPr>
            <a:r>
              <a:rPr lang="en-US" b="1" dirty="0">
                <a:solidFill>
                  <a:srgbClr val="381A09"/>
                </a:solidFill>
                <a:latin typeface="Arial" panose="020B0604020202020204" pitchFamily="34" charset="0"/>
                <a:cs typeface="Arial" panose="020B0604020202020204" pitchFamily="34" charset="0"/>
              </a:rPr>
              <a:t>03   Formation</a:t>
            </a:r>
          </a:p>
          <a:p>
            <a:pPr>
              <a:lnSpc>
                <a:spcPct val="150000"/>
              </a:lnSpc>
            </a:pPr>
            <a:r>
              <a:rPr lang="en-US" b="1" dirty="0">
                <a:solidFill>
                  <a:srgbClr val="381A09"/>
                </a:solidFill>
                <a:latin typeface="Arial" panose="020B0604020202020204" pitchFamily="34" charset="0"/>
                <a:cs typeface="Arial" panose="020B0604020202020204" pitchFamily="34" charset="0"/>
              </a:rPr>
              <a:t>04   </a:t>
            </a:r>
            <a:r>
              <a:rPr lang="en-US" b="1" dirty="0" err="1">
                <a:solidFill>
                  <a:srgbClr val="381A09"/>
                </a:solidFill>
                <a:latin typeface="Arial" panose="020B0604020202020204" pitchFamily="34" charset="0"/>
                <a:cs typeface="Arial" panose="020B0604020202020204" pitchFamily="34" charset="0"/>
              </a:rPr>
              <a:t>Résultats</a:t>
            </a:r>
            <a:r>
              <a:rPr lang="en-US" b="1" dirty="0">
                <a:solidFill>
                  <a:srgbClr val="381A09"/>
                </a:solidFill>
                <a:latin typeface="Arial" panose="020B0604020202020204" pitchFamily="34" charset="0"/>
                <a:cs typeface="Arial" panose="020B0604020202020204" pitchFamily="34" charset="0"/>
              </a:rPr>
              <a:t> </a:t>
            </a:r>
            <a:r>
              <a:rPr lang="en-US" b="1" dirty="0" err="1">
                <a:solidFill>
                  <a:srgbClr val="381A09"/>
                </a:solidFill>
                <a:latin typeface="Arial" panose="020B0604020202020204" pitchFamily="34" charset="0"/>
                <a:cs typeface="Arial" panose="020B0604020202020204" pitchFamily="34" charset="0"/>
              </a:rPr>
              <a:t>d’audits</a:t>
            </a:r>
            <a:endParaRPr lang="en-US" b="1" dirty="0">
              <a:solidFill>
                <a:srgbClr val="381A09"/>
              </a:solidFill>
              <a:latin typeface="Arial" panose="020B0604020202020204" pitchFamily="34" charset="0"/>
              <a:cs typeface="Arial" panose="020B0604020202020204" pitchFamily="34" charset="0"/>
            </a:endParaRPr>
          </a:p>
          <a:p>
            <a:pPr>
              <a:lnSpc>
                <a:spcPct val="150000"/>
              </a:lnSpc>
            </a:pPr>
            <a:r>
              <a:rPr lang="en-US" b="1" dirty="0">
                <a:solidFill>
                  <a:srgbClr val="381A09"/>
                </a:solidFill>
                <a:latin typeface="Arial" panose="020B0604020202020204" pitchFamily="34" charset="0"/>
                <a:cs typeface="Arial" panose="020B0604020202020204" pitchFamily="34" charset="0"/>
              </a:rPr>
              <a:t>05   KPI</a:t>
            </a:r>
          </a:p>
          <a:p>
            <a:pPr>
              <a:lnSpc>
                <a:spcPct val="150000"/>
              </a:lnSpc>
            </a:pPr>
            <a:r>
              <a:rPr lang="en-US" b="1" dirty="0">
                <a:solidFill>
                  <a:srgbClr val="381A09"/>
                </a:solidFill>
                <a:latin typeface="Arial" panose="020B0604020202020204" pitchFamily="34" charset="0"/>
                <a:cs typeface="Arial" panose="020B0604020202020204" pitchFamily="34" charset="0"/>
              </a:rPr>
              <a:t>06   Plan de contrôle</a:t>
            </a:r>
          </a:p>
          <a:p>
            <a:pPr>
              <a:lnSpc>
                <a:spcPct val="150000"/>
              </a:lnSpc>
            </a:pPr>
            <a:r>
              <a:rPr lang="en-US" b="1" dirty="0">
                <a:solidFill>
                  <a:srgbClr val="381A09"/>
                </a:solidFill>
                <a:latin typeface="Arial" panose="020B0604020202020204" pitchFamily="34" charset="0"/>
                <a:cs typeface="Arial" panose="020B0604020202020204" pitchFamily="34" charset="0"/>
              </a:rPr>
              <a:t>07   Travaux </a:t>
            </a:r>
            <a:r>
              <a:rPr lang="en-US" b="1" dirty="0" err="1">
                <a:solidFill>
                  <a:srgbClr val="381A09"/>
                </a:solidFill>
                <a:latin typeface="Arial" panose="020B0604020202020204" pitchFamily="34" charset="0"/>
                <a:cs typeface="Arial" panose="020B0604020202020204" pitchFamily="34" charset="0"/>
              </a:rPr>
              <a:t>en</a:t>
            </a:r>
            <a:r>
              <a:rPr lang="en-US" b="1" dirty="0">
                <a:solidFill>
                  <a:srgbClr val="381A09"/>
                </a:solidFill>
                <a:latin typeface="Arial" panose="020B0604020202020204" pitchFamily="34" charset="0"/>
                <a:cs typeface="Arial" panose="020B0604020202020204" pitchFamily="34" charset="0"/>
              </a:rPr>
              <a:t> </a:t>
            </a:r>
            <a:r>
              <a:rPr lang="en-US" b="1" dirty="0" err="1">
                <a:solidFill>
                  <a:srgbClr val="381A09"/>
                </a:solidFill>
                <a:latin typeface="Arial" panose="020B0604020202020204" pitchFamily="34" charset="0"/>
                <a:cs typeface="Arial" panose="020B0604020202020204" pitchFamily="34" charset="0"/>
              </a:rPr>
              <a:t>cours</a:t>
            </a:r>
            <a:endParaRPr lang="en-US" b="1" dirty="0">
              <a:solidFill>
                <a:srgbClr val="381A09"/>
              </a:solidFill>
              <a:latin typeface="Arial" panose="020B0604020202020204" pitchFamily="34" charset="0"/>
              <a:cs typeface="Arial" panose="020B0604020202020204" pitchFamily="34" charset="0"/>
            </a:endParaRPr>
          </a:p>
          <a:p>
            <a:pPr>
              <a:lnSpc>
                <a:spcPct val="150000"/>
              </a:lnSpc>
            </a:pPr>
            <a:r>
              <a:rPr lang="en-US" b="1" dirty="0">
                <a:solidFill>
                  <a:srgbClr val="381A09"/>
                </a:solidFill>
                <a:latin typeface="Arial" panose="020B0604020202020204" pitchFamily="34" charset="0"/>
                <a:cs typeface="Arial" panose="020B0604020202020204" pitchFamily="34" charset="0"/>
              </a:rPr>
              <a:t>08   Feuille de route</a:t>
            </a:r>
          </a:p>
        </p:txBody>
      </p:sp>
    </p:spTree>
    <p:extLst>
      <p:ext uri="{BB962C8B-B14F-4D97-AF65-F5344CB8AC3E}">
        <p14:creationId xmlns:p14="http://schemas.microsoft.com/office/powerpoint/2010/main" val="51121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AD54F4-A0D9-A4DE-5633-9F3A2F6F2024}"/>
              </a:ext>
            </a:extLst>
          </p:cNvPr>
          <p:cNvSpPr>
            <a:spLocks noGrp="1"/>
          </p:cNvSpPr>
          <p:nvPr>
            <p:ph type="title"/>
          </p:nvPr>
        </p:nvSpPr>
        <p:spPr/>
        <p:txBody>
          <a:bodyPr/>
          <a:lstStyle/>
          <a:p>
            <a:r>
              <a:rPr lang="fr-FR" dirty="0"/>
              <a:t>Actualité</a:t>
            </a:r>
          </a:p>
        </p:txBody>
      </p:sp>
      <p:sp>
        <p:nvSpPr>
          <p:cNvPr id="3" name="Espace réservé du contenu 2">
            <a:extLst>
              <a:ext uri="{FF2B5EF4-FFF2-40B4-BE49-F238E27FC236}">
                <a16:creationId xmlns:a16="http://schemas.microsoft.com/office/drawing/2014/main" id="{A76B0857-C73C-BB1A-3BFA-7ED3268EDDBF}"/>
              </a:ext>
            </a:extLst>
          </p:cNvPr>
          <p:cNvSpPr>
            <a:spLocks noGrp="1"/>
          </p:cNvSpPr>
          <p:nvPr>
            <p:ph idx="1"/>
          </p:nvPr>
        </p:nvSpPr>
        <p:spPr/>
        <p:txBody>
          <a:bodyPr/>
          <a:lstStyle/>
          <a:p>
            <a:r>
              <a:rPr lang="fr-FR" dirty="0"/>
              <a:t>Déchéance trentenaire / Cas BRoDIN si pas d’actualité on fait Audrey/florence le présenter par exemple et s’ils sont ok et on complète</a:t>
            </a:r>
          </a:p>
          <a:p>
            <a:r>
              <a:rPr lang="fr-FR" dirty="0"/>
              <a:t>Fond transférés à la CDC et recherche des bénéficiaires</a:t>
            </a:r>
          </a:p>
          <a:p>
            <a:r>
              <a:rPr lang="fr-FR" dirty="0"/>
              <a:t>Cas de modification de la clause bénéficiaire cas de monsieur BERTHIER DE GANDRY – abus de faiblesse</a:t>
            </a:r>
          </a:p>
          <a:p>
            <a:pPr marL="0" indent="0">
              <a:buNone/>
            </a:pPr>
            <a:endParaRPr lang="fr-FR" dirty="0"/>
          </a:p>
          <a:p>
            <a:endParaRPr lang="fr-FR" dirty="0"/>
          </a:p>
        </p:txBody>
      </p:sp>
    </p:spTree>
    <p:extLst>
      <p:ext uri="{BB962C8B-B14F-4D97-AF65-F5344CB8AC3E}">
        <p14:creationId xmlns:p14="http://schemas.microsoft.com/office/powerpoint/2010/main" val="4111538010"/>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23D2EBA-3951-FD83-2B64-4ADA48E2AB96}"/>
              </a:ext>
            </a:extLst>
          </p:cNvPr>
          <p:cNvSpPr/>
          <p:nvPr/>
        </p:nvSpPr>
        <p:spPr>
          <a:xfrm>
            <a:off x="7734300" y="0"/>
            <a:ext cx="4443503" cy="6858000"/>
          </a:xfrm>
          <a:prstGeom prst="rect">
            <a:avLst/>
          </a:prstGeom>
          <a:solidFill>
            <a:srgbClr val="E207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C874ED0C-FD67-9A06-A807-1732D24ACC52}"/>
              </a:ext>
            </a:extLst>
          </p:cNvPr>
          <p:cNvSpPr/>
          <p:nvPr/>
        </p:nvSpPr>
        <p:spPr>
          <a:xfrm>
            <a:off x="241022" y="3285714"/>
            <a:ext cx="4726439" cy="3407457"/>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0AD2C511-8600-4B59-278D-688B8AB80DD7}"/>
              </a:ext>
            </a:extLst>
          </p:cNvPr>
          <p:cNvSpPr/>
          <p:nvPr/>
        </p:nvSpPr>
        <p:spPr>
          <a:xfrm>
            <a:off x="-2" y="307075"/>
            <a:ext cx="7943851" cy="1173707"/>
          </a:xfrm>
          <a:prstGeom prst="rect">
            <a:avLst/>
          </a:prstGeom>
          <a:solidFill>
            <a:srgbClr val="00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Titre 1">
            <a:extLst>
              <a:ext uri="{FF2B5EF4-FFF2-40B4-BE49-F238E27FC236}">
                <a16:creationId xmlns:a16="http://schemas.microsoft.com/office/drawing/2014/main" id="{ED134980-3434-6B16-F752-02B834B93A1C}"/>
              </a:ext>
            </a:extLst>
          </p:cNvPr>
          <p:cNvSpPr txBox="1">
            <a:spLocks/>
          </p:cNvSpPr>
          <p:nvPr/>
        </p:nvSpPr>
        <p:spPr>
          <a:xfrm>
            <a:off x="838200" y="399246"/>
            <a:ext cx="10515600" cy="938236"/>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solidFill>
                  <a:schemeClr val="bg1"/>
                </a:solidFill>
              </a:rPr>
              <a:t>Actualité</a:t>
            </a:r>
          </a:p>
          <a:p>
            <a:r>
              <a:rPr lang="fr-FR" sz="3000" dirty="0">
                <a:solidFill>
                  <a:schemeClr val="bg1"/>
                </a:solidFill>
              </a:rPr>
              <a:t>Cas Janine BRODIN</a:t>
            </a:r>
          </a:p>
        </p:txBody>
      </p:sp>
      <p:pic>
        <p:nvPicPr>
          <p:cNvPr id="7" name="Graphique 6" descr="Profil femelle avec un remplissage uni">
            <a:extLst>
              <a:ext uri="{FF2B5EF4-FFF2-40B4-BE49-F238E27FC236}">
                <a16:creationId xmlns:a16="http://schemas.microsoft.com/office/drawing/2014/main" id="{F23C10BB-6D25-6C87-FA66-83808297DD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7118" y="3291818"/>
            <a:ext cx="578796" cy="578796"/>
          </a:xfrm>
          <a:prstGeom prst="rect">
            <a:avLst/>
          </a:prstGeom>
        </p:spPr>
      </p:pic>
      <p:sp>
        <p:nvSpPr>
          <p:cNvPr id="8" name="ZoneTexte 7">
            <a:extLst>
              <a:ext uri="{FF2B5EF4-FFF2-40B4-BE49-F238E27FC236}">
                <a16:creationId xmlns:a16="http://schemas.microsoft.com/office/drawing/2014/main" id="{C0973AB5-60D8-FC1E-A448-07A1A1088B1C}"/>
              </a:ext>
            </a:extLst>
          </p:cNvPr>
          <p:cNvSpPr txBox="1"/>
          <p:nvPr/>
        </p:nvSpPr>
        <p:spPr>
          <a:xfrm>
            <a:off x="884896" y="3387025"/>
            <a:ext cx="4082565" cy="369332"/>
          </a:xfrm>
          <a:prstGeom prst="rect">
            <a:avLst/>
          </a:prstGeom>
          <a:noFill/>
        </p:spPr>
        <p:txBody>
          <a:bodyPr wrap="square" rtlCol="0">
            <a:spAutoFit/>
          </a:bodyPr>
          <a:lstStyle/>
          <a:p>
            <a:r>
              <a:rPr lang="fr-FR" dirty="0"/>
              <a:t>BRODIN JANINE – RS104013778001</a:t>
            </a:r>
          </a:p>
        </p:txBody>
      </p:sp>
      <p:pic>
        <p:nvPicPr>
          <p:cNvPr id="9" name="Graphique 8" descr="Pièces contour">
            <a:extLst>
              <a:ext uri="{FF2B5EF4-FFF2-40B4-BE49-F238E27FC236}">
                <a16:creationId xmlns:a16="http://schemas.microsoft.com/office/drawing/2014/main" id="{692AAAA2-3761-A739-0D0A-D2FFC04191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5845" y="6081885"/>
            <a:ext cx="519953" cy="519953"/>
          </a:xfrm>
          <a:prstGeom prst="rect">
            <a:avLst/>
          </a:prstGeom>
        </p:spPr>
      </p:pic>
      <p:sp>
        <p:nvSpPr>
          <p:cNvPr id="10" name="ZoneTexte 9">
            <a:extLst>
              <a:ext uri="{FF2B5EF4-FFF2-40B4-BE49-F238E27FC236}">
                <a16:creationId xmlns:a16="http://schemas.microsoft.com/office/drawing/2014/main" id="{44B28D66-3973-EDE3-6018-1AA5052B2DF1}"/>
              </a:ext>
            </a:extLst>
          </p:cNvPr>
          <p:cNvSpPr txBox="1"/>
          <p:nvPr/>
        </p:nvSpPr>
        <p:spPr>
          <a:xfrm>
            <a:off x="857442" y="6037316"/>
            <a:ext cx="4082565" cy="646331"/>
          </a:xfrm>
          <a:prstGeom prst="rect">
            <a:avLst/>
          </a:prstGeom>
          <a:noFill/>
        </p:spPr>
        <p:txBody>
          <a:bodyPr wrap="square" rtlCol="0">
            <a:spAutoFit/>
          </a:bodyPr>
          <a:lstStyle/>
          <a:p>
            <a:r>
              <a:rPr lang="fr-FR" dirty="0"/>
              <a:t>24/11/2023 – Versement de 4115,86€ à la CDC</a:t>
            </a:r>
          </a:p>
        </p:txBody>
      </p:sp>
      <p:pic>
        <p:nvPicPr>
          <p:cNvPr id="11" name="Graphique 10" descr="Contrat contour">
            <a:extLst>
              <a:ext uri="{FF2B5EF4-FFF2-40B4-BE49-F238E27FC236}">
                <a16:creationId xmlns:a16="http://schemas.microsoft.com/office/drawing/2014/main" id="{ED7325C8-5FC2-7C70-5625-5DDF6A86B5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233" y="3861795"/>
            <a:ext cx="618565" cy="618565"/>
          </a:xfrm>
          <a:prstGeom prst="rect">
            <a:avLst/>
          </a:prstGeom>
        </p:spPr>
      </p:pic>
      <p:sp>
        <p:nvSpPr>
          <p:cNvPr id="12" name="ZoneTexte 11">
            <a:extLst>
              <a:ext uri="{FF2B5EF4-FFF2-40B4-BE49-F238E27FC236}">
                <a16:creationId xmlns:a16="http://schemas.microsoft.com/office/drawing/2014/main" id="{62AB99D5-22A8-5FF2-BD35-BB1DBB3A84AB}"/>
              </a:ext>
            </a:extLst>
          </p:cNvPr>
          <p:cNvSpPr txBox="1"/>
          <p:nvPr/>
        </p:nvSpPr>
        <p:spPr>
          <a:xfrm>
            <a:off x="884896" y="3945990"/>
            <a:ext cx="4082565" cy="369332"/>
          </a:xfrm>
          <a:prstGeom prst="rect">
            <a:avLst/>
          </a:prstGeom>
          <a:noFill/>
        </p:spPr>
        <p:txBody>
          <a:bodyPr wrap="square" rtlCol="0">
            <a:spAutoFit/>
          </a:bodyPr>
          <a:lstStyle/>
          <a:p>
            <a:r>
              <a:rPr lang="fr-FR" dirty="0"/>
              <a:t>08/08/1987 – Affiliation via un article 82</a:t>
            </a:r>
          </a:p>
        </p:txBody>
      </p:sp>
      <p:pic>
        <p:nvPicPr>
          <p:cNvPr id="13" name="Graphique 12" descr="Pierre tombale avec un remplissage uni">
            <a:extLst>
              <a:ext uri="{FF2B5EF4-FFF2-40B4-BE49-F238E27FC236}">
                <a16:creationId xmlns:a16="http://schemas.microsoft.com/office/drawing/2014/main" id="{08075BB1-9641-52DB-ACFA-E55F593210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1022" y="4957845"/>
            <a:ext cx="564776" cy="564776"/>
          </a:xfrm>
          <a:prstGeom prst="rect">
            <a:avLst/>
          </a:prstGeom>
        </p:spPr>
      </p:pic>
      <p:sp>
        <p:nvSpPr>
          <p:cNvPr id="14" name="ZoneTexte 13">
            <a:extLst>
              <a:ext uri="{FF2B5EF4-FFF2-40B4-BE49-F238E27FC236}">
                <a16:creationId xmlns:a16="http://schemas.microsoft.com/office/drawing/2014/main" id="{E3AA2867-AD85-2536-FD7A-9074C52FC976}"/>
              </a:ext>
            </a:extLst>
          </p:cNvPr>
          <p:cNvSpPr txBox="1"/>
          <p:nvPr/>
        </p:nvSpPr>
        <p:spPr>
          <a:xfrm>
            <a:off x="892740" y="5035473"/>
            <a:ext cx="3869760" cy="646331"/>
          </a:xfrm>
          <a:prstGeom prst="rect">
            <a:avLst/>
          </a:prstGeom>
          <a:noFill/>
        </p:spPr>
        <p:txBody>
          <a:bodyPr wrap="square" rtlCol="0">
            <a:spAutoFit/>
          </a:bodyPr>
          <a:lstStyle/>
          <a:p>
            <a:r>
              <a:rPr lang="fr-FR" dirty="0"/>
              <a:t>09/05/1994 - Décès avant terme (non connu par AG2R à ce moment)</a:t>
            </a:r>
          </a:p>
        </p:txBody>
      </p:sp>
      <p:pic>
        <p:nvPicPr>
          <p:cNvPr id="16" name="Graphique 15" descr="Boîte de réception croix contour">
            <a:extLst>
              <a:ext uri="{FF2B5EF4-FFF2-40B4-BE49-F238E27FC236}">
                <a16:creationId xmlns:a16="http://schemas.microsoft.com/office/drawing/2014/main" id="{9DD657FA-1E87-74F2-DAFC-0AB56F6876A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3059" y="4427507"/>
            <a:ext cx="547991" cy="547991"/>
          </a:xfrm>
          <a:prstGeom prst="rect">
            <a:avLst/>
          </a:prstGeom>
        </p:spPr>
      </p:pic>
      <p:sp>
        <p:nvSpPr>
          <p:cNvPr id="18" name="ZoneTexte 17">
            <a:extLst>
              <a:ext uri="{FF2B5EF4-FFF2-40B4-BE49-F238E27FC236}">
                <a16:creationId xmlns:a16="http://schemas.microsoft.com/office/drawing/2014/main" id="{E0558E4E-459E-07F2-C05F-66C76DD46540}"/>
              </a:ext>
            </a:extLst>
          </p:cNvPr>
          <p:cNvSpPr txBox="1"/>
          <p:nvPr/>
        </p:nvSpPr>
        <p:spPr>
          <a:xfrm>
            <a:off x="902265" y="4411992"/>
            <a:ext cx="3707835" cy="646331"/>
          </a:xfrm>
          <a:prstGeom prst="rect">
            <a:avLst/>
          </a:prstGeom>
          <a:noFill/>
        </p:spPr>
        <p:txBody>
          <a:bodyPr wrap="square">
            <a:spAutoFit/>
          </a:bodyPr>
          <a:lstStyle/>
          <a:p>
            <a:r>
              <a:rPr lang="fr-FR" dirty="0"/>
              <a:t>30/09/1988 - Reduction du contrat  suite à résiliation du contrat firme</a:t>
            </a:r>
          </a:p>
        </p:txBody>
      </p:sp>
      <p:pic>
        <p:nvPicPr>
          <p:cNvPr id="20" name="Graphique 19" descr="Contrat contour">
            <a:extLst>
              <a:ext uri="{FF2B5EF4-FFF2-40B4-BE49-F238E27FC236}">
                <a16:creationId xmlns:a16="http://schemas.microsoft.com/office/drawing/2014/main" id="{86C14631-45A1-1328-E7D1-42BDC5BF540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3823" y="5545078"/>
            <a:ext cx="561975" cy="561975"/>
          </a:xfrm>
          <a:prstGeom prst="rect">
            <a:avLst/>
          </a:prstGeom>
        </p:spPr>
      </p:pic>
      <p:pic>
        <p:nvPicPr>
          <p:cNvPr id="22" name="Graphique 21" descr="Fermer contour">
            <a:extLst>
              <a:ext uri="{FF2B5EF4-FFF2-40B4-BE49-F238E27FC236}">
                <a16:creationId xmlns:a16="http://schemas.microsoft.com/office/drawing/2014/main" id="{0D666F98-B685-C506-F48E-84E2C76F31A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11111" y="5531474"/>
            <a:ext cx="646331" cy="646331"/>
          </a:xfrm>
          <a:prstGeom prst="rect">
            <a:avLst/>
          </a:prstGeom>
        </p:spPr>
      </p:pic>
      <p:sp>
        <p:nvSpPr>
          <p:cNvPr id="24" name="ZoneTexte 23">
            <a:extLst>
              <a:ext uri="{FF2B5EF4-FFF2-40B4-BE49-F238E27FC236}">
                <a16:creationId xmlns:a16="http://schemas.microsoft.com/office/drawing/2014/main" id="{9F047E15-12F8-9692-C893-0C43E78CD9D4}"/>
              </a:ext>
            </a:extLst>
          </p:cNvPr>
          <p:cNvSpPr txBox="1"/>
          <p:nvPr/>
        </p:nvSpPr>
        <p:spPr>
          <a:xfrm>
            <a:off x="838510" y="5653575"/>
            <a:ext cx="3581090" cy="369332"/>
          </a:xfrm>
          <a:prstGeom prst="rect">
            <a:avLst/>
          </a:prstGeom>
          <a:noFill/>
        </p:spPr>
        <p:txBody>
          <a:bodyPr wrap="square">
            <a:spAutoFit/>
          </a:bodyPr>
          <a:lstStyle/>
          <a:p>
            <a:r>
              <a:rPr lang="fr-FR" dirty="0"/>
              <a:t>31/12/1999 - Terme du contrat</a:t>
            </a:r>
          </a:p>
        </p:txBody>
      </p:sp>
      <p:sp>
        <p:nvSpPr>
          <p:cNvPr id="26" name="Flèche : droite 25">
            <a:extLst>
              <a:ext uri="{FF2B5EF4-FFF2-40B4-BE49-F238E27FC236}">
                <a16:creationId xmlns:a16="http://schemas.microsoft.com/office/drawing/2014/main" id="{78996880-FD8E-180B-B656-E0CB66244639}"/>
              </a:ext>
            </a:extLst>
          </p:cNvPr>
          <p:cNvSpPr/>
          <p:nvPr/>
        </p:nvSpPr>
        <p:spPr>
          <a:xfrm>
            <a:off x="5088676" y="3485277"/>
            <a:ext cx="952500" cy="685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dirty="0"/>
              <a:t>Cas classique</a:t>
            </a:r>
          </a:p>
        </p:txBody>
      </p:sp>
      <p:sp>
        <p:nvSpPr>
          <p:cNvPr id="28" name="Rectangle : coins arrondis 27">
            <a:extLst>
              <a:ext uri="{FF2B5EF4-FFF2-40B4-BE49-F238E27FC236}">
                <a16:creationId xmlns:a16="http://schemas.microsoft.com/office/drawing/2014/main" id="{91848E2D-0BA5-F787-50EB-60E0DCEDB399}"/>
              </a:ext>
            </a:extLst>
          </p:cNvPr>
          <p:cNvSpPr/>
          <p:nvPr/>
        </p:nvSpPr>
        <p:spPr>
          <a:xfrm>
            <a:off x="285845" y="1592062"/>
            <a:ext cx="1333500" cy="338493"/>
          </a:xfrm>
          <a:prstGeom prst="roundRect">
            <a:avLst/>
          </a:prstGeom>
          <a:solidFill>
            <a:srgbClr val="0052FF"/>
          </a:solidFill>
          <a:ln>
            <a:solidFill>
              <a:srgbClr val="005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Contexte</a:t>
            </a:r>
          </a:p>
        </p:txBody>
      </p:sp>
      <p:pic>
        <p:nvPicPr>
          <p:cNvPr id="6146" name="Picture 2" descr="Caisse des dépôts et consignations — Wikipédia">
            <a:extLst>
              <a:ext uri="{FF2B5EF4-FFF2-40B4-BE49-F238E27FC236}">
                <a16:creationId xmlns:a16="http://schemas.microsoft.com/office/drawing/2014/main" id="{593DDE52-90D5-239E-B350-B261C741937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45331" y="0"/>
            <a:ext cx="2146669" cy="2168251"/>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8">
            <a:extLst>
              <a:ext uri="{FF2B5EF4-FFF2-40B4-BE49-F238E27FC236}">
                <a16:creationId xmlns:a16="http://schemas.microsoft.com/office/drawing/2014/main" id="{93883CC3-13D4-80D3-BF76-868A6FCBD844}"/>
              </a:ext>
            </a:extLst>
          </p:cNvPr>
          <p:cNvSpPr/>
          <p:nvPr/>
        </p:nvSpPr>
        <p:spPr>
          <a:xfrm>
            <a:off x="6162391" y="3257537"/>
            <a:ext cx="5363694" cy="115445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Le bénéficiaire a été contacté et ne peux pas récupérer les fonds auprès de la CDC car le décès a plus de 30 ans (déchéance trentenaire = acquisition des fonds par l’Etat) – possible réclamation à traiter au cas par cas</a:t>
            </a:r>
          </a:p>
        </p:txBody>
      </p:sp>
      <p:sp>
        <p:nvSpPr>
          <p:cNvPr id="30" name="Rectangle 29">
            <a:extLst>
              <a:ext uri="{FF2B5EF4-FFF2-40B4-BE49-F238E27FC236}">
                <a16:creationId xmlns:a16="http://schemas.microsoft.com/office/drawing/2014/main" id="{90374E5B-E639-543E-E3CE-BFA4BC89DE93}"/>
              </a:ext>
            </a:extLst>
          </p:cNvPr>
          <p:cNvSpPr/>
          <p:nvPr/>
        </p:nvSpPr>
        <p:spPr>
          <a:xfrm>
            <a:off x="6162391" y="4524920"/>
            <a:ext cx="5363694" cy="2168251"/>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Cependant, AG2R n’avait pas connaissance du décès de Madame Brodin à la date du transfert et a donc transféré par erreur les fonds comme si celle-ci était en vie.</a:t>
            </a:r>
          </a:p>
          <a:p>
            <a:pPr algn="ctr"/>
            <a:r>
              <a:rPr lang="fr-FR" sz="1600" dirty="0">
                <a:solidFill>
                  <a:schemeClr val="tx1"/>
                </a:solidFill>
              </a:rPr>
              <a:t>D’autre part suite à une erreur lors du transfert à la CDC ces fonds ont été envoyé avec une date de début de conservation à la date du transfert et non du décès ou du terme. Cette succession d’erreur nous permet de faire une demande car les fond sont toujours disponibles à la CDC.</a:t>
            </a:r>
          </a:p>
        </p:txBody>
      </p:sp>
      <p:sp>
        <p:nvSpPr>
          <p:cNvPr id="31" name="Flèche : droite 30">
            <a:extLst>
              <a:ext uri="{FF2B5EF4-FFF2-40B4-BE49-F238E27FC236}">
                <a16:creationId xmlns:a16="http://schemas.microsoft.com/office/drawing/2014/main" id="{96B52570-0B18-3EA6-2CC9-32ABD3442BA6}"/>
              </a:ext>
            </a:extLst>
          </p:cNvPr>
          <p:cNvSpPr/>
          <p:nvPr/>
        </p:nvSpPr>
        <p:spPr>
          <a:xfrm>
            <a:off x="5097402" y="5240233"/>
            <a:ext cx="952500" cy="685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dirty="0"/>
              <a:t>Exception</a:t>
            </a:r>
          </a:p>
        </p:txBody>
      </p:sp>
      <p:sp>
        <p:nvSpPr>
          <p:cNvPr id="27" name="Rectangle 26">
            <a:extLst>
              <a:ext uri="{FF2B5EF4-FFF2-40B4-BE49-F238E27FC236}">
                <a16:creationId xmlns:a16="http://schemas.microsoft.com/office/drawing/2014/main" id="{AFDD582E-B5F8-5592-18CF-F02E5A7809B8}"/>
              </a:ext>
            </a:extLst>
          </p:cNvPr>
          <p:cNvSpPr/>
          <p:nvPr/>
        </p:nvSpPr>
        <p:spPr>
          <a:xfrm>
            <a:off x="207118" y="1848497"/>
            <a:ext cx="11318967" cy="110081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ysClr val="windowText" lastClr="000000"/>
                </a:solidFill>
              </a:rPr>
              <a:t>Pour régulariser des dossiers transférés à la CDC sans recherche de bénéficiaire nous avons mandaté FINACCA un enquêteur pour retrouver les bénéficiaires et les contacter pour qu’ils puissent récupérer leurs du auprès de la CDC via le site CICLADE</a:t>
            </a:r>
          </a:p>
        </p:txBody>
      </p:sp>
    </p:spTree>
    <p:extLst>
      <p:ext uri="{BB962C8B-B14F-4D97-AF65-F5344CB8AC3E}">
        <p14:creationId xmlns:p14="http://schemas.microsoft.com/office/powerpoint/2010/main" val="2529600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BB671E8-A03A-A3D8-3FB7-D2CBF6D76281}"/>
              </a:ext>
            </a:extLst>
          </p:cNvPr>
          <p:cNvSpPr/>
          <p:nvPr/>
        </p:nvSpPr>
        <p:spPr>
          <a:xfrm>
            <a:off x="-2" y="307075"/>
            <a:ext cx="7943851" cy="1173707"/>
          </a:xfrm>
          <a:prstGeom prst="rect">
            <a:avLst/>
          </a:prstGeom>
          <a:solidFill>
            <a:srgbClr val="00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Titre 1">
            <a:extLst>
              <a:ext uri="{FF2B5EF4-FFF2-40B4-BE49-F238E27FC236}">
                <a16:creationId xmlns:a16="http://schemas.microsoft.com/office/drawing/2014/main" id="{8D75876F-1354-0753-8CFD-08DCE432765D}"/>
              </a:ext>
            </a:extLst>
          </p:cNvPr>
          <p:cNvSpPr txBox="1">
            <a:spLocks/>
          </p:cNvSpPr>
          <p:nvPr/>
        </p:nvSpPr>
        <p:spPr>
          <a:xfrm>
            <a:off x="838200" y="399246"/>
            <a:ext cx="10515600" cy="938236"/>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solidFill>
                  <a:schemeClr val="bg1"/>
                </a:solidFill>
              </a:rPr>
              <a:t>Actualité</a:t>
            </a:r>
          </a:p>
          <a:p>
            <a:r>
              <a:rPr lang="fr-FR" sz="3000" dirty="0">
                <a:solidFill>
                  <a:schemeClr val="bg1"/>
                </a:solidFill>
              </a:rPr>
              <a:t>Cas Janine BRODIN</a:t>
            </a:r>
          </a:p>
        </p:txBody>
      </p:sp>
      <p:sp>
        <p:nvSpPr>
          <p:cNvPr id="8" name="Rectangle 7">
            <a:extLst>
              <a:ext uri="{FF2B5EF4-FFF2-40B4-BE49-F238E27FC236}">
                <a16:creationId xmlns:a16="http://schemas.microsoft.com/office/drawing/2014/main" id="{92A9B1E1-849E-0A23-EE35-CE6228DC7CC0}"/>
              </a:ext>
            </a:extLst>
          </p:cNvPr>
          <p:cNvSpPr/>
          <p:nvPr/>
        </p:nvSpPr>
        <p:spPr>
          <a:xfrm>
            <a:off x="7734300" y="0"/>
            <a:ext cx="4443503" cy="6858000"/>
          </a:xfrm>
          <a:prstGeom prst="rect">
            <a:avLst/>
          </a:prstGeom>
          <a:solidFill>
            <a:srgbClr val="E207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2" descr="Caisse des dépôts et consignations — Wikipédia">
            <a:extLst>
              <a:ext uri="{FF2B5EF4-FFF2-40B4-BE49-F238E27FC236}">
                <a16:creationId xmlns:a16="http://schemas.microsoft.com/office/drawing/2014/main" id="{4A528DE2-232B-CE7F-3180-FC4D8BB7C9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5331" y="0"/>
            <a:ext cx="2146669" cy="216825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 coins arrondis 5">
            <a:extLst>
              <a:ext uri="{FF2B5EF4-FFF2-40B4-BE49-F238E27FC236}">
                <a16:creationId xmlns:a16="http://schemas.microsoft.com/office/drawing/2014/main" id="{FDF1ED47-B0F7-36E0-307C-7ED7A44251F9}"/>
              </a:ext>
            </a:extLst>
          </p:cNvPr>
          <p:cNvSpPr/>
          <p:nvPr/>
        </p:nvSpPr>
        <p:spPr>
          <a:xfrm>
            <a:off x="285845" y="1592062"/>
            <a:ext cx="1333500" cy="338493"/>
          </a:xfrm>
          <a:prstGeom prst="roundRect">
            <a:avLst/>
          </a:prstGeom>
          <a:solidFill>
            <a:srgbClr val="0052FF"/>
          </a:solidFill>
          <a:ln>
            <a:solidFill>
              <a:srgbClr val="005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Résolution</a:t>
            </a:r>
          </a:p>
        </p:txBody>
      </p:sp>
      <p:pic>
        <p:nvPicPr>
          <p:cNvPr id="5122" name="Picture 2">
            <a:extLst>
              <a:ext uri="{FF2B5EF4-FFF2-40B4-BE49-F238E27FC236}">
                <a16:creationId xmlns:a16="http://schemas.microsoft.com/office/drawing/2014/main" id="{1AA45DF1-34EA-B1E1-3F9B-6E196C2960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212" y="4729966"/>
            <a:ext cx="4461505"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3">
            <a:extLst>
              <a:ext uri="{FF2B5EF4-FFF2-40B4-BE49-F238E27FC236}">
                <a16:creationId xmlns:a16="http://schemas.microsoft.com/office/drawing/2014/main" id="{90243C9D-4D1A-B319-652A-5B13122D2AA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40337"/>
          <a:stretch>
            <a:fillRect/>
          </a:stretch>
        </p:blipFill>
        <p:spPr bwMode="auto">
          <a:xfrm>
            <a:off x="6222014" y="1595469"/>
            <a:ext cx="3443670" cy="306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4">
            <a:extLst>
              <a:ext uri="{FF2B5EF4-FFF2-40B4-BE49-F238E27FC236}">
                <a16:creationId xmlns:a16="http://schemas.microsoft.com/office/drawing/2014/main" id="{FF7E43D4-EAA1-7093-59F6-646493BB0F1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9294"/>
          <a:stretch>
            <a:fillRect/>
          </a:stretch>
        </p:blipFill>
        <p:spPr bwMode="auto">
          <a:xfrm>
            <a:off x="6210824" y="4639698"/>
            <a:ext cx="3477243" cy="2109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ZoneTexte 6">
            <a:extLst>
              <a:ext uri="{FF2B5EF4-FFF2-40B4-BE49-F238E27FC236}">
                <a16:creationId xmlns:a16="http://schemas.microsoft.com/office/drawing/2014/main" id="{BC95961F-D763-31C8-59B3-B8E14CC010DA}"/>
              </a:ext>
            </a:extLst>
          </p:cNvPr>
          <p:cNvSpPr txBox="1"/>
          <p:nvPr/>
        </p:nvSpPr>
        <p:spPr>
          <a:xfrm>
            <a:off x="428625" y="2124075"/>
            <a:ext cx="5541362" cy="2308324"/>
          </a:xfrm>
          <a:prstGeom prst="rect">
            <a:avLst/>
          </a:prstGeom>
          <a:noFill/>
        </p:spPr>
        <p:txBody>
          <a:bodyPr wrap="square" rtlCol="0">
            <a:spAutoFit/>
          </a:bodyPr>
          <a:lstStyle/>
          <a:p>
            <a:pPr marL="285750" indent="-285750">
              <a:buFontTx/>
              <a:buChar char="-"/>
            </a:pPr>
            <a:r>
              <a:rPr lang="fr-FR" sz="1600" dirty="0"/>
              <a:t>Discussion et suivi avec le bénéficiaire (notamment pour éviter la multiplication des demandes auprès de la CDC qui ralentissent le processus de traitement)</a:t>
            </a:r>
          </a:p>
          <a:p>
            <a:pPr marL="285750" indent="-285750">
              <a:buFontTx/>
              <a:buChar char="-"/>
            </a:pPr>
            <a:r>
              <a:rPr lang="fr-FR" sz="1600" dirty="0"/>
              <a:t>Envoi d’un mode opératoire pour demander les fonds (point d’attention ici le nom utilisé pour la demande était le nom de jeune fille de la souscriptrice, le nom marital seul ne renvoyait pas de résultats)</a:t>
            </a:r>
          </a:p>
          <a:p>
            <a:pPr marL="285750" indent="-285750">
              <a:buFontTx/>
              <a:buChar char="-"/>
            </a:pPr>
            <a:r>
              <a:rPr lang="fr-FR" sz="1600" dirty="0"/>
              <a:t>Echanges avec la CDC pour comprendre le process et le traitement de cas particuliers</a:t>
            </a:r>
          </a:p>
        </p:txBody>
      </p:sp>
    </p:spTree>
    <p:extLst>
      <p:ext uri="{BB962C8B-B14F-4D97-AF65-F5344CB8AC3E}">
        <p14:creationId xmlns:p14="http://schemas.microsoft.com/office/powerpoint/2010/main" val="3842738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E6E6FC-14EA-6823-CE45-55EFBD181C23}"/>
              </a:ext>
            </a:extLst>
          </p:cNvPr>
          <p:cNvSpPr/>
          <p:nvPr/>
        </p:nvSpPr>
        <p:spPr>
          <a:xfrm>
            <a:off x="-1" y="307075"/>
            <a:ext cx="7554036" cy="1173707"/>
          </a:xfrm>
          <a:prstGeom prst="rect">
            <a:avLst/>
          </a:prstGeom>
          <a:solidFill>
            <a:srgbClr val="00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91AD10C-885B-5C4E-2BE1-4859881FA4F1}"/>
              </a:ext>
            </a:extLst>
          </p:cNvPr>
          <p:cNvSpPr>
            <a:spLocks noGrp="1"/>
          </p:cNvSpPr>
          <p:nvPr>
            <p:ph type="title"/>
          </p:nvPr>
        </p:nvSpPr>
        <p:spPr>
          <a:xfrm>
            <a:off x="838200" y="399246"/>
            <a:ext cx="10515600" cy="938236"/>
          </a:xfrm>
        </p:spPr>
        <p:txBody>
          <a:bodyPr/>
          <a:lstStyle/>
          <a:p>
            <a:r>
              <a:rPr lang="fr-FR" dirty="0" err="1">
                <a:solidFill>
                  <a:schemeClr val="bg1"/>
                </a:solidFill>
              </a:rPr>
              <a:t>Reporting</a:t>
            </a:r>
            <a:r>
              <a:rPr lang="fr-FR" dirty="0">
                <a:solidFill>
                  <a:schemeClr val="bg1"/>
                </a:solidFill>
              </a:rPr>
              <a:t> réglementaire</a:t>
            </a:r>
          </a:p>
        </p:txBody>
      </p:sp>
      <p:sp>
        <p:nvSpPr>
          <p:cNvPr id="3" name="Espace réservé du contenu 2">
            <a:extLst>
              <a:ext uri="{FF2B5EF4-FFF2-40B4-BE49-F238E27FC236}">
                <a16:creationId xmlns:a16="http://schemas.microsoft.com/office/drawing/2014/main" id="{FF489F23-DCC3-E307-6F44-EE2362BDD8DC}"/>
              </a:ext>
            </a:extLst>
          </p:cNvPr>
          <p:cNvSpPr>
            <a:spLocks noGrp="1"/>
          </p:cNvSpPr>
          <p:nvPr>
            <p:ph idx="1"/>
          </p:nvPr>
        </p:nvSpPr>
        <p:spPr>
          <a:xfrm>
            <a:off x="1433013" y="3359198"/>
            <a:ext cx="6885298" cy="3021124"/>
          </a:xfrm>
        </p:spPr>
        <p:txBody>
          <a:bodyPr>
            <a:noAutofit/>
          </a:bodyPr>
          <a:lstStyle/>
          <a:p>
            <a:pPr marL="0" indent="0">
              <a:buNone/>
            </a:pPr>
            <a:r>
              <a:rPr lang="fr-FR" sz="1500" dirty="0"/>
              <a:t>Pour le prochain exercice, vigilance sur :</a:t>
            </a:r>
          </a:p>
          <a:p>
            <a:pPr>
              <a:buFontTx/>
              <a:buChar char="-"/>
            </a:pPr>
            <a:r>
              <a:rPr lang="fr-FR" sz="1500" dirty="0"/>
              <a:t>La qualité de donnée et la précision des périmètres</a:t>
            </a:r>
          </a:p>
          <a:p>
            <a:pPr>
              <a:buFontTx/>
              <a:buChar char="-"/>
            </a:pPr>
            <a:r>
              <a:rPr lang="fr-FR" sz="1500" dirty="0"/>
              <a:t>La validation des dirigeants effectifs a parfois mis du temps (notamment en raison des réorganisations), Nous avons eu du mal a obtenir les validations dans les temps nous serons donc particulièrement vigilant au respect des délais de transmission pour que nous puissions transmettre les données pour validation au plus tôt.</a:t>
            </a:r>
          </a:p>
          <a:p>
            <a:pPr>
              <a:buFontTx/>
              <a:buChar char="-"/>
            </a:pPr>
            <a:r>
              <a:rPr lang="fr-FR" sz="1500" dirty="0"/>
              <a:t>Coté conformité nous vous solliciterons également a l’avance pour mettre à jour la liste des interlocuteurs afin d’éviter les retards liés aux mouvements d’équipe.</a:t>
            </a:r>
          </a:p>
          <a:p>
            <a:pPr>
              <a:buFontTx/>
              <a:buChar char="-"/>
            </a:pPr>
            <a:r>
              <a:rPr lang="fr-FR" sz="1500" dirty="0"/>
              <a:t>Nous vous encourageons également à maintenir un mode opératoire détaillant la façon de consolider les chiffres pour éviter toute perte d’information en cas de mouvement au sein des équipes.</a:t>
            </a:r>
          </a:p>
        </p:txBody>
      </p:sp>
      <p:cxnSp>
        <p:nvCxnSpPr>
          <p:cNvPr id="10" name="Connecteur droit 9">
            <a:extLst>
              <a:ext uri="{FF2B5EF4-FFF2-40B4-BE49-F238E27FC236}">
                <a16:creationId xmlns:a16="http://schemas.microsoft.com/office/drawing/2014/main" id="{CED7BCC7-F5DD-C939-BB9E-DCC0A54C99C9}"/>
              </a:ext>
            </a:extLst>
          </p:cNvPr>
          <p:cNvCxnSpPr/>
          <p:nvPr/>
        </p:nvCxnSpPr>
        <p:spPr>
          <a:xfrm flipH="1">
            <a:off x="996287" y="1937979"/>
            <a:ext cx="6646459" cy="0"/>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1FBAB796-6D50-97BC-7AE6-38E4DF801753}"/>
              </a:ext>
            </a:extLst>
          </p:cNvPr>
          <p:cNvCxnSpPr>
            <a:cxnSpLocks/>
          </p:cNvCxnSpPr>
          <p:nvPr/>
        </p:nvCxnSpPr>
        <p:spPr>
          <a:xfrm>
            <a:off x="996287" y="1931155"/>
            <a:ext cx="0" cy="4926845"/>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sp>
        <p:nvSpPr>
          <p:cNvPr id="14" name="Ellipse 13">
            <a:extLst>
              <a:ext uri="{FF2B5EF4-FFF2-40B4-BE49-F238E27FC236}">
                <a16:creationId xmlns:a16="http://schemas.microsoft.com/office/drawing/2014/main" id="{A826E355-5828-B6F0-E096-8E8BCC18CFE4}"/>
              </a:ext>
            </a:extLst>
          </p:cNvPr>
          <p:cNvSpPr/>
          <p:nvPr/>
        </p:nvSpPr>
        <p:spPr>
          <a:xfrm>
            <a:off x="777924" y="2357649"/>
            <a:ext cx="436726" cy="436726"/>
          </a:xfrm>
          <a:prstGeom prst="ellipse">
            <a:avLst/>
          </a:prstGeom>
          <a:solidFill>
            <a:schemeClr val="bg1"/>
          </a:solidFill>
          <a:ln>
            <a:solidFill>
              <a:srgbClr val="005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 name="Graphique 17" descr="Coupes à champagne contour">
            <a:extLst>
              <a:ext uri="{FF2B5EF4-FFF2-40B4-BE49-F238E27FC236}">
                <a16:creationId xmlns:a16="http://schemas.microsoft.com/office/drawing/2014/main" id="{68D12844-4889-30DA-EE5A-DADEF54A7E8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0005" y="2399730"/>
            <a:ext cx="352564" cy="352564"/>
          </a:xfrm>
          <a:prstGeom prst="rect">
            <a:avLst/>
          </a:prstGeom>
        </p:spPr>
      </p:pic>
      <p:sp>
        <p:nvSpPr>
          <p:cNvPr id="19" name="ZoneTexte 18">
            <a:extLst>
              <a:ext uri="{FF2B5EF4-FFF2-40B4-BE49-F238E27FC236}">
                <a16:creationId xmlns:a16="http://schemas.microsoft.com/office/drawing/2014/main" id="{B04DAC4A-6651-08D4-D2BC-45636BA4BC2E}"/>
              </a:ext>
            </a:extLst>
          </p:cNvPr>
          <p:cNvSpPr txBox="1"/>
          <p:nvPr/>
        </p:nvSpPr>
        <p:spPr>
          <a:xfrm>
            <a:off x="1417019" y="2217761"/>
            <a:ext cx="5925477" cy="1015663"/>
          </a:xfrm>
          <a:prstGeom prst="rect">
            <a:avLst/>
          </a:prstGeom>
          <a:noFill/>
        </p:spPr>
        <p:txBody>
          <a:bodyPr wrap="square" rtlCol="0">
            <a:spAutoFit/>
          </a:bodyPr>
          <a:lstStyle/>
          <a:p>
            <a:r>
              <a:rPr lang="fr-FR" sz="1500" b="1" dirty="0"/>
              <a:t>L’ensemble des rapports ont été soumis dans les temps.</a:t>
            </a:r>
          </a:p>
          <a:p>
            <a:r>
              <a:rPr lang="fr-FR" sz="1500" b="1" dirty="0"/>
              <a:t>Merci à tous pour votre implication et votre disponibilité et particulièrement aux équipes de PRIMA qui réalisaient l’exercice pour la première fois !</a:t>
            </a:r>
          </a:p>
        </p:txBody>
      </p:sp>
      <p:sp>
        <p:nvSpPr>
          <p:cNvPr id="25" name="Ellipse 24">
            <a:extLst>
              <a:ext uri="{FF2B5EF4-FFF2-40B4-BE49-F238E27FC236}">
                <a16:creationId xmlns:a16="http://schemas.microsoft.com/office/drawing/2014/main" id="{8A9B4335-EE2E-313B-ADFC-AFEFCE6CA6E1}"/>
              </a:ext>
            </a:extLst>
          </p:cNvPr>
          <p:cNvSpPr/>
          <p:nvPr/>
        </p:nvSpPr>
        <p:spPr>
          <a:xfrm>
            <a:off x="777924" y="4662698"/>
            <a:ext cx="436726" cy="436726"/>
          </a:xfrm>
          <a:prstGeom prst="ellipse">
            <a:avLst/>
          </a:prstGeom>
          <a:solidFill>
            <a:schemeClr val="bg1"/>
          </a:solidFill>
          <a:ln>
            <a:solidFill>
              <a:srgbClr val="005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4" name="Graphique 23" descr="Avertissement contour">
            <a:extLst>
              <a:ext uri="{FF2B5EF4-FFF2-40B4-BE49-F238E27FC236}">
                <a16:creationId xmlns:a16="http://schemas.microsoft.com/office/drawing/2014/main" id="{A8357D1B-FAB1-81EC-4057-3D7B7FD7E9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6222" y="4695110"/>
            <a:ext cx="344606" cy="344606"/>
          </a:xfrm>
          <a:prstGeom prst="rect">
            <a:avLst/>
          </a:prstGeom>
        </p:spPr>
      </p:pic>
      <p:sp>
        <p:nvSpPr>
          <p:cNvPr id="7" name="Organigramme : Document 6">
            <a:extLst>
              <a:ext uri="{FF2B5EF4-FFF2-40B4-BE49-F238E27FC236}">
                <a16:creationId xmlns:a16="http://schemas.microsoft.com/office/drawing/2014/main" id="{52270028-EEF1-BD3E-0F87-C0210ACCAF05}"/>
              </a:ext>
            </a:extLst>
          </p:cNvPr>
          <p:cNvSpPr/>
          <p:nvPr/>
        </p:nvSpPr>
        <p:spPr>
          <a:xfrm>
            <a:off x="7219666" y="-1"/>
            <a:ext cx="4972335" cy="6707875"/>
          </a:xfrm>
          <a:custGeom>
            <a:avLst/>
            <a:gdLst>
              <a:gd name="csX0" fmla="*/ 0 w 21600"/>
              <a:gd name="csY0" fmla="*/ 0 h 21600"/>
              <a:gd name="csX1" fmla="*/ 21600 w 21600"/>
              <a:gd name="csY1" fmla="*/ 0 h 21600"/>
              <a:gd name="csX2" fmla="*/ 21600 w 21600"/>
              <a:gd name="csY2" fmla="*/ 17322 h 21600"/>
              <a:gd name="csX3" fmla="*/ 0 w 21600"/>
              <a:gd name="csY3" fmla="*/ 20172 h 21600"/>
              <a:gd name="csX4" fmla="*/ 0 w 21600"/>
              <a:gd name="csY4" fmla="*/ 0 h 21600"/>
              <a:gd name="csX0" fmla="*/ 0 w 31499"/>
              <a:gd name="csY0" fmla="*/ 0 h 21348"/>
              <a:gd name="csX1" fmla="*/ 31499 w 31499"/>
              <a:gd name="csY1" fmla="*/ 24 h 21348"/>
              <a:gd name="csX2" fmla="*/ 31499 w 31499"/>
              <a:gd name="csY2" fmla="*/ 17346 h 21348"/>
              <a:gd name="csX3" fmla="*/ 9899 w 31499"/>
              <a:gd name="csY3" fmla="*/ 20196 h 21348"/>
              <a:gd name="csX4" fmla="*/ 0 w 31499"/>
              <a:gd name="csY4" fmla="*/ 0 h 21348"/>
              <a:gd name="csX0" fmla="*/ 898 w 32397"/>
              <a:gd name="csY0" fmla="*/ 4 h 21352"/>
              <a:gd name="csX1" fmla="*/ 32397 w 32397"/>
              <a:gd name="csY1" fmla="*/ 28 h 21352"/>
              <a:gd name="csX2" fmla="*/ 32397 w 32397"/>
              <a:gd name="csY2" fmla="*/ 17350 h 21352"/>
              <a:gd name="csX3" fmla="*/ 10797 w 32397"/>
              <a:gd name="csY3" fmla="*/ 20200 h 21352"/>
              <a:gd name="csX4" fmla="*/ 898 w 32397"/>
              <a:gd name="csY4" fmla="*/ 4 h 21352"/>
            </a:gdLst>
            <a:ahLst/>
            <a:cxnLst>
              <a:cxn ang="0">
                <a:pos x="csX0" y="csY0"/>
              </a:cxn>
              <a:cxn ang="0">
                <a:pos x="csX1" y="csY1"/>
              </a:cxn>
              <a:cxn ang="0">
                <a:pos x="csX2" y="csY2"/>
              </a:cxn>
              <a:cxn ang="0">
                <a:pos x="csX3" y="csY3"/>
              </a:cxn>
              <a:cxn ang="0">
                <a:pos x="csX4" y="csY4"/>
              </a:cxn>
            </a:cxnLst>
            <a:rect l="l" t="t" r="r" b="b"/>
            <a:pathLst>
              <a:path w="32397" h="21352">
                <a:moveTo>
                  <a:pt x="898" y="4"/>
                </a:moveTo>
                <a:lnTo>
                  <a:pt x="32397" y="28"/>
                </a:lnTo>
                <a:lnTo>
                  <a:pt x="32397" y="17350"/>
                </a:lnTo>
                <a:cubicBezTo>
                  <a:pt x="21597" y="17350"/>
                  <a:pt x="21597" y="23950"/>
                  <a:pt x="10797" y="20200"/>
                </a:cubicBezTo>
                <a:cubicBezTo>
                  <a:pt x="7497" y="13468"/>
                  <a:pt x="-3130" y="-280"/>
                  <a:pt x="898" y="4"/>
                </a:cubicBezTo>
                <a:close/>
              </a:path>
            </a:pathLst>
          </a:custGeom>
          <a:blipFill>
            <a:blip r:embed="rId4"/>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94122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cBook Pro near white open book">
            <a:extLst>
              <a:ext uri="{FF2B5EF4-FFF2-40B4-BE49-F238E27FC236}">
                <a16:creationId xmlns:a16="http://schemas.microsoft.com/office/drawing/2014/main" id="{32330C17-2929-2E17-ED2A-FE4A13485B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698" r="43126"/>
          <a:stretch>
            <a:fillRect/>
          </a:stretch>
        </p:blipFill>
        <p:spPr bwMode="auto">
          <a:xfrm>
            <a:off x="7786838" y="0"/>
            <a:ext cx="4405162"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Ellipse 6">
            <a:extLst>
              <a:ext uri="{FF2B5EF4-FFF2-40B4-BE49-F238E27FC236}">
                <a16:creationId xmlns:a16="http://schemas.microsoft.com/office/drawing/2014/main" id="{CF0CFB64-FA06-8CD5-1A54-86108F20663A}"/>
              </a:ext>
            </a:extLst>
          </p:cNvPr>
          <p:cNvSpPr/>
          <p:nvPr/>
        </p:nvSpPr>
        <p:spPr>
          <a:xfrm>
            <a:off x="6699760" y="1776547"/>
            <a:ext cx="2174155" cy="2065048"/>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EB5EBE8C-6BF1-0AFD-D3E1-2B5697A3136F}"/>
              </a:ext>
            </a:extLst>
          </p:cNvPr>
          <p:cNvSpPr txBox="1"/>
          <p:nvPr/>
        </p:nvSpPr>
        <p:spPr>
          <a:xfrm>
            <a:off x="6920061" y="2356188"/>
            <a:ext cx="1733551" cy="954107"/>
          </a:xfrm>
          <a:prstGeom prst="rect">
            <a:avLst/>
          </a:prstGeom>
          <a:noFill/>
        </p:spPr>
        <p:txBody>
          <a:bodyPr wrap="square" rtlCol="0">
            <a:spAutoFit/>
          </a:bodyPr>
          <a:lstStyle/>
          <a:p>
            <a:pPr algn="ctr"/>
            <a:r>
              <a:rPr lang="fr-FR" sz="2800" dirty="0"/>
              <a:t>NPS + 40 au 31/03</a:t>
            </a:r>
          </a:p>
        </p:txBody>
      </p:sp>
      <p:sp>
        <p:nvSpPr>
          <p:cNvPr id="8" name="ZoneTexte 7">
            <a:extLst>
              <a:ext uri="{FF2B5EF4-FFF2-40B4-BE49-F238E27FC236}">
                <a16:creationId xmlns:a16="http://schemas.microsoft.com/office/drawing/2014/main" id="{5C4CAC7A-1578-D163-CAC7-6BE1C26DE24E}"/>
              </a:ext>
            </a:extLst>
          </p:cNvPr>
          <p:cNvSpPr txBox="1"/>
          <p:nvPr/>
        </p:nvSpPr>
        <p:spPr>
          <a:xfrm>
            <a:off x="492916" y="1962150"/>
            <a:ext cx="6206843" cy="1754326"/>
          </a:xfrm>
          <a:prstGeom prst="rect">
            <a:avLst/>
          </a:prstGeom>
          <a:noFill/>
        </p:spPr>
        <p:txBody>
          <a:bodyPr wrap="square" rtlCol="0">
            <a:spAutoFit/>
          </a:bodyPr>
          <a:lstStyle/>
          <a:p>
            <a:r>
              <a:rPr lang="fr-FR" b="1" dirty="0"/>
              <a:t>La formation déshérence </a:t>
            </a:r>
            <a:r>
              <a:rPr lang="fr-FR" dirty="0"/>
              <a:t>a été publiée le XX</a:t>
            </a:r>
          </a:p>
          <a:p>
            <a:r>
              <a:rPr lang="fr-FR" dirty="0"/>
              <a:t>A date XXX personnes ont suivi la formation soir 38% de l’objectif.</a:t>
            </a:r>
          </a:p>
          <a:p>
            <a:endParaRPr lang="fr-FR" dirty="0"/>
          </a:p>
          <a:p>
            <a:r>
              <a:rPr lang="fr-FR" dirty="0"/>
              <a:t>Les retours sur la formation sont pour le moment excellents, merci à tous !</a:t>
            </a:r>
          </a:p>
        </p:txBody>
      </p:sp>
      <p:sp>
        <p:nvSpPr>
          <p:cNvPr id="9" name="Rectangle : coins arrondis 8">
            <a:extLst>
              <a:ext uri="{FF2B5EF4-FFF2-40B4-BE49-F238E27FC236}">
                <a16:creationId xmlns:a16="http://schemas.microsoft.com/office/drawing/2014/main" id="{D1BBA56F-5E74-5859-87BE-161A6D55F40E}"/>
              </a:ext>
            </a:extLst>
          </p:cNvPr>
          <p:cNvSpPr/>
          <p:nvPr/>
        </p:nvSpPr>
        <p:spPr>
          <a:xfrm>
            <a:off x="-2" y="1981200"/>
            <a:ext cx="400052" cy="1638300"/>
          </a:xfrm>
          <a:prstGeom prst="roundRect">
            <a:avLst/>
          </a:prstGeom>
          <a:solidFill>
            <a:srgbClr val="005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7" name="Groupe 16">
            <a:extLst>
              <a:ext uri="{FF2B5EF4-FFF2-40B4-BE49-F238E27FC236}">
                <a16:creationId xmlns:a16="http://schemas.microsoft.com/office/drawing/2014/main" id="{451793DF-DC23-1856-FAB0-88ACC303E6DA}"/>
              </a:ext>
            </a:extLst>
          </p:cNvPr>
          <p:cNvGrpSpPr/>
          <p:nvPr/>
        </p:nvGrpSpPr>
        <p:grpSpPr>
          <a:xfrm>
            <a:off x="-2" y="5243215"/>
            <a:ext cx="1558262" cy="896276"/>
            <a:chOff x="-2" y="5243215"/>
            <a:chExt cx="1558262" cy="896276"/>
          </a:xfrm>
        </p:grpSpPr>
        <p:sp>
          <p:nvSpPr>
            <p:cNvPr id="11" name="Ellipse 10">
              <a:extLst>
                <a:ext uri="{FF2B5EF4-FFF2-40B4-BE49-F238E27FC236}">
                  <a16:creationId xmlns:a16="http://schemas.microsoft.com/office/drawing/2014/main" id="{00FA5697-6436-6B55-A2BF-71683C4FF68F}"/>
                </a:ext>
              </a:extLst>
            </p:cNvPr>
            <p:cNvSpPr/>
            <p:nvPr/>
          </p:nvSpPr>
          <p:spPr>
            <a:xfrm>
              <a:off x="426571" y="5243216"/>
              <a:ext cx="669134" cy="669134"/>
            </a:xfrm>
            <a:prstGeom prst="ellipse">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Graphique 12" descr="Mégaphone1 avec un remplissage uni">
              <a:extLst>
                <a:ext uri="{FF2B5EF4-FFF2-40B4-BE49-F238E27FC236}">
                  <a16:creationId xmlns:a16="http://schemas.microsoft.com/office/drawing/2014/main" id="{09AF9453-F074-551F-8256-B656894738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8957" y="5243215"/>
              <a:ext cx="600345" cy="600345"/>
            </a:xfrm>
            <a:prstGeom prst="rect">
              <a:avLst/>
            </a:prstGeom>
          </p:spPr>
        </p:pic>
        <p:sp>
          <p:nvSpPr>
            <p:cNvPr id="15" name="ZoneTexte 14">
              <a:extLst>
                <a:ext uri="{FF2B5EF4-FFF2-40B4-BE49-F238E27FC236}">
                  <a16:creationId xmlns:a16="http://schemas.microsoft.com/office/drawing/2014/main" id="{B3B61A54-6BB5-1154-12C3-1129DB69DC5E}"/>
                </a:ext>
              </a:extLst>
            </p:cNvPr>
            <p:cNvSpPr txBox="1"/>
            <p:nvPr/>
          </p:nvSpPr>
          <p:spPr>
            <a:xfrm>
              <a:off x="-2" y="5862492"/>
              <a:ext cx="1558262" cy="276999"/>
            </a:xfrm>
            <a:prstGeom prst="rect">
              <a:avLst/>
            </a:prstGeom>
            <a:noFill/>
          </p:spPr>
          <p:txBody>
            <a:bodyPr wrap="square">
              <a:spAutoFit/>
            </a:bodyPr>
            <a:lstStyle/>
            <a:p>
              <a:pPr algn="ctr"/>
              <a:r>
                <a:rPr lang="fr-FR" sz="1200" b="1" dirty="0"/>
                <a:t>En préparation </a:t>
              </a:r>
            </a:p>
          </p:txBody>
        </p:sp>
      </p:grpSp>
      <p:sp>
        <p:nvSpPr>
          <p:cNvPr id="16" name="ZoneTexte 15">
            <a:extLst>
              <a:ext uri="{FF2B5EF4-FFF2-40B4-BE49-F238E27FC236}">
                <a16:creationId xmlns:a16="http://schemas.microsoft.com/office/drawing/2014/main" id="{4392DF65-9EF1-C928-0F07-B8E32924EAEB}"/>
              </a:ext>
            </a:extLst>
          </p:cNvPr>
          <p:cNvSpPr txBox="1"/>
          <p:nvPr/>
        </p:nvSpPr>
        <p:spPr>
          <a:xfrm>
            <a:off x="1438662" y="4682291"/>
            <a:ext cx="6257538" cy="1815882"/>
          </a:xfrm>
          <a:prstGeom prst="rect">
            <a:avLst/>
          </a:prstGeom>
          <a:noFill/>
        </p:spPr>
        <p:txBody>
          <a:bodyPr wrap="square" rtlCol="0">
            <a:spAutoFit/>
          </a:bodyPr>
          <a:lstStyle/>
          <a:p>
            <a:r>
              <a:rPr lang="fr-FR" sz="1600" b="1" dirty="0"/>
              <a:t>Cible</a:t>
            </a:r>
            <a:r>
              <a:rPr lang="fr-FR" sz="1600" dirty="0"/>
              <a:t>: Population DDA</a:t>
            </a:r>
          </a:p>
          <a:p>
            <a:r>
              <a:rPr lang="fr-FR" sz="1600" b="1" dirty="0"/>
              <a:t>Durée</a:t>
            </a:r>
            <a:r>
              <a:rPr lang="fr-FR" sz="1600" dirty="0"/>
              <a:t>: 20 minutes</a:t>
            </a:r>
          </a:p>
          <a:p>
            <a:r>
              <a:rPr lang="fr-FR" sz="1600" b="1" dirty="0"/>
              <a:t>Contenu</a:t>
            </a:r>
            <a:r>
              <a:rPr lang="fr-FR" sz="1600" dirty="0"/>
              <a:t>: Identification des différents thèmes que recouvre la protection de la clientèle au travers d’un cas pratique et d’exercices.</a:t>
            </a:r>
          </a:p>
          <a:p>
            <a:endParaRPr lang="fr-FR" sz="1600" dirty="0"/>
          </a:p>
          <a:p>
            <a:r>
              <a:rPr lang="fr-FR" sz="1600" b="1" dirty="0"/>
              <a:t>Y’a-t-il des choses que vous souhaitez voir dans la formation? ou des éléments à appuyer au regard des retours terrain </a:t>
            </a:r>
            <a:r>
              <a:rPr lang="fr-FR" sz="1600" dirty="0"/>
              <a:t>?</a:t>
            </a:r>
          </a:p>
        </p:txBody>
      </p:sp>
      <p:cxnSp>
        <p:nvCxnSpPr>
          <p:cNvPr id="19" name="Connecteur droit 18">
            <a:extLst>
              <a:ext uri="{FF2B5EF4-FFF2-40B4-BE49-F238E27FC236}">
                <a16:creationId xmlns:a16="http://schemas.microsoft.com/office/drawing/2014/main" id="{490A86B2-878B-663C-6136-DDE119AEE88B}"/>
              </a:ext>
            </a:extLst>
          </p:cNvPr>
          <p:cNvCxnSpPr/>
          <p:nvPr/>
        </p:nvCxnSpPr>
        <p:spPr>
          <a:xfrm>
            <a:off x="981075" y="0"/>
            <a:ext cx="0" cy="1776547"/>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21" name="Connecteur droit 20">
            <a:extLst>
              <a:ext uri="{FF2B5EF4-FFF2-40B4-BE49-F238E27FC236}">
                <a16:creationId xmlns:a16="http://schemas.microsoft.com/office/drawing/2014/main" id="{90FA64FB-E7B2-5CEC-636D-7FF7D891B4C2}"/>
              </a:ext>
            </a:extLst>
          </p:cNvPr>
          <p:cNvCxnSpPr/>
          <p:nvPr/>
        </p:nvCxnSpPr>
        <p:spPr>
          <a:xfrm flipH="1">
            <a:off x="209550" y="1776547"/>
            <a:ext cx="781050" cy="0"/>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23" name="Connecteur droit 22">
            <a:extLst>
              <a:ext uri="{FF2B5EF4-FFF2-40B4-BE49-F238E27FC236}">
                <a16:creationId xmlns:a16="http://schemas.microsoft.com/office/drawing/2014/main" id="{FB1312C8-187C-EBE6-E831-D9D00CCED5CF}"/>
              </a:ext>
            </a:extLst>
          </p:cNvPr>
          <p:cNvCxnSpPr>
            <a:cxnSpLocks/>
          </p:cNvCxnSpPr>
          <p:nvPr/>
        </p:nvCxnSpPr>
        <p:spPr>
          <a:xfrm>
            <a:off x="209550" y="1776547"/>
            <a:ext cx="0" cy="2557328"/>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25" name="Connecteur droit 24">
            <a:extLst>
              <a:ext uri="{FF2B5EF4-FFF2-40B4-BE49-F238E27FC236}">
                <a16:creationId xmlns:a16="http://schemas.microsoft.com/office/drawing/2014/main" id="{E910216B-A285-418F-56AC-6F9C93FC88E6}"/>
              </a:ext>
            </a:extLst>
          </p:cNvPr>
          <p:cNvCxnSpPr>
            <a:cxnSpLocks/>
          </p:cNvCxnSpPr>
          <p:nvPr/>
        </p:nvCxnSpPr>
        <p:spPr>
          <a:xfrm>
            <a:off x="209550" y="4333875"/>
            <a:ext cx="7334250" cy="0"/>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79D68532-F448-D2E2-6166-EDFAB3780D64}"/>
              </a:ext>
            </a:extLst>
          </p:cNvPr>
          <p:cNvCxnSpPr>
            <a:cxnSpLocks/>
          </p:cNvCxnSpPr>
          <p:nvPr/>
        </p:nvCxnSpPr>
        <p:spPr>
          <a:xfrm>
            <a:off x="7543800" y="4333875"/>
            <a:ext cx="0" cy="2524125"/>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1F3D5222-C2B8-E4D7-2A9D-03019B7E4098}"/>
              </a:ext>
            </a:extLst>
          </p:cNvPr>
          <p:cNvSpPr txBox="1"/>
          <p:nvPr/>
        </p:nvSpPr>
        <p:spPr>
          <a:xfrm>
            <a:off x="2119462" y="4137360"/>
            <a:ext cx="4580298" cy="369332"/>
          </a:xfrm>
          <a:prstGeom prst="rect">
            <a:avLst/>
          </a:prstGeom>
          <a:solidFill>
            <a:schemeClr val="bg1"/>
          </a:solidFill>
        </p:spPr>
        <p:txBody>
          <a:bodyPr wrap="square" rtlCol="0">
            <a:spAutoFit/>
          </a:bodyPr>
          <a:lstStyle/>
          <a:p>
            <a:pPr algn="ctr"/>
            <a:r>
              <a:rPr lang="fr-FR" b="1" dirty="0"/>
              <a:t>Introduction à la Protection de la clientèle</a:t>
            </a:r>
          </a:p>
        </p:txBody>
      </p:sp>
      <p:sp>
        <p:nvSpPr>
          <p:cNvPr id="4" name="Rectangle 3">
            <a:extLst>
              <a:ext uri="{FF2B5EF4-FFF2-40B4-BE49-F238E27FC236}">
                <a16:creationId xmlns:a16="http://schemas.microsoft.com/office/drawing/2014/main" id="{3E04FA3D-8ABC-405B-ED5D-DFB6954C1F24}"/>
              </a:ext>
            </a:extLst>
          </p:cNvPr>
          <p:cNvSpPr/>
          <p:nvPr/>
        </p:nvSpPr>
        <p:spPr>
          <a:xfrm>
            <a:off x="-2" y="307075"/>
            <a:ext cx="7943851" cy="1173707"/>
          </a:xfrm>
          <a:prstGeom prst="rect">
            <a:avLst/>
          </a:prstGeom>
          <a:solidFill>
            <a:srgbClr val="00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Titre 1">
            <a:extLst>
              <a:ext uri="{FF2B5EF4-FFF2-40B4-BE49-F238E27FC236}">
                <a16:creationId xmlns:a16="http://schemas.microsoft.com/office/drawing/2014/main" id="{F2451321-583A-1BCB-3337-3AD209E66621}"/>
              </a:ext>
            </a:extLst>
          </p:cNvPr>
          <p:cNvSpPr txBox="1">
            <a:spLocks/>
          </p:cNvSpPr>
          <p:nvPr/>
        </p:nvSpPr>
        <p:spPr>
          <a:xfrm>
            <a:off x="838200" y="399246"/>
            <a:ext cx="10515600" cy="9382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solidFill>
                  <a:schemeClr val="bg1"/>
                </a:solidFill>
              </a:rPr>
              <a:t>Formation</a:t>
            </a:r>
          </a:p>
        </p:txBody>
      </p:sp>
    </p:spTree>
    <p:extLst>
      <p:ext uri="{BB962C8B-B14F-4D97-AF65-F5344CB8AC3E}">
        <p14:creationId xmlns:p14="http://schemas.microsoft.com/office/powerpoint/2010/main" val="1907988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CB0CA2-CEED-EC3E-A902-3BE042FB544E}"/>
              </a:ext>
            </a:extLst>
          </p:cNvPr>
          <p:cNvSpPr>
            <a:spLocks noGrp="1"/>
          </p:cNvSpPr>
          <p:nvPr>
            <p:ph type="title"/>
          </p:nvPr>
        </p:nvSpPr>
        <p:spPr/>
        <p:txBody>
          <a:bodyPr/>
          <a:lstStyle/>
          <a:p>
            <a:r>
              <a:rPr lang="fr-FR" dirty="0"/>
              <a:t>Présentation audit flash et plan d’action ACPR</a:t>
            </a:r>
          </a:p>
        </p:txBody>
      </p:sp>
      <p:sp>
        <p:nvSpPr>
          <p:cNvPr id="3" name="Espace réservé du contenu 2">
            <a:extLst>
              <a:ext uri="{FF2B5EF4-FFF2-40B4-BE49-F238E27FC236}">
                <a16:creationId xmlns:a16="http://schemas.microsoft.com/office/drawing/2014/main" id="{21E306FE-264A-2BAA-082F-8BCC14A24D09}"/>
              </a:ext>
            </a:extLst>
          </p:cNvPr>
          <p:cNvSpPr>
            <a:spLocks noGrp="1"/>
          </p:cNvSpPr>
          <p:nvPr>
            <p:ph idx="1"/>
          </p:nvPr>
        </p:nvSpPr>
        <p:spPr/>
        <p:txBody>
          <a:bodyPr/>
          <a:lstStyle/>
          <a:p>
            <a:r>
              <a:rPr lang="fr-FR" dirty="0"/>
              <a:t>Statut du plan d’action</a:t>
            </a:r>
          </a:p>
          <a:p>
            <a:r>
              <a:rPr lang="fr-FR" dirty="0"/>
              <a:t>Win de ces dernières années</a:t>
            </a:r>
          </a:p>
          <a:p>
            <a:r>
              <a:rPr lang="fr-FR" dirty="0"/>
              <a:t>Voir avec Sandrine si on a le droit d’en parler</a:t>
            </a:r>
          </a:p>
        </p:txBody>
      </p:sp>
    </p:spTree>
    <p:extLst>
      <p:ext uri="{BB962C8B-B14F-4D97-AF65-F5344CB8AC3E}">
        <p14:creationId xmlns:p14="http://schemas.microsoft.com/office/powerpoint/2010/main" val="3394916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7EDC7C0C-4D99-7FF1-742F-B5D7A0551BE5}"/>
              </a:ext>
            </a:extLst>
          </p:cNvPr>
          <p:cNvSpPr/>
          <p:nvPr/>
        </p:nvSpPr>
        <p:spPr>
          <a:xfrm>
            <a:off x="7851773" y="0"/>
            <a:ext cx="4337053" cy="6858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ZoneTexte 64">
            <a:extLst>
              <a:ext uri="{FF2B5EF4-FFF2-40B4-BE49-F238E27FC236}">
                <a16:creationId xmlns:a16="http://schemas.microsoft.com/office/drawing/2014/main" id="{62ABA2D1-70F4-F29A-FF0D-11A34B2EB61B}"/>
              </a:ext>
            </a:extLst>
          </p:cNvPr>
          <p:cNvSpPr txBox="1"/>
          <p:nvPr/>
        </p:nvSpPr>
        <p:spPr>
          <a:xfrm>
            <a:off x="1042385" y="2345320"/>
            <a:ext cx="4445012" cy="1169551"/>
          </a:xfrm>
          <a:prstGeom prst="rect">
            <a:avLst/>
          </a:prstGeom>
          <a:noFill/>
        </p:spPr>
        <p:txBody>
          <a:bodyPr wrap="square" rtlCol="0">
            <a:spAutoFit/>
          </a:bodyPr>
          <a:lstStyle/>
          <a:p>
            <a:r>
              <a:rPr lang="fr-FR" sz="1400" dirty="0"/>
              <a:t>Travail avec les métiers (DERIOM / DSPS) suite aux différents audits pour mettre en place des KPI de suivi du dispositif déshérence sur la base des KPI métiers, les KPI annuels obligatoires pour les </a:t>
            </a:r>
            <a:r>
              <a:rPr lang="fr-FR" sz="1400" dirty="0" err="1"/>
              <a:t>reportings</a:t>
            </a:r>
            <a:r>
              <a:rPr lang="fr-FR" sz="1400" dirty="0"/>
              <a:t> réglementaires et des propositions de la conformité.</a:t>
            </a:r>
          </a:p>
        </p:txBody>
      </p:sp>
      <p:cxnSp>
        <p:nvCxnSpPr>
          <p:cNvPr id="46" name="Connecteur droit 45">
            <a:extLst>
              <a:ext uri="{FF2B5EF4-FFF2-40B4-BE49-F238E27FC236}">
                <a16:creationId xmlns:a16="http://schemas.microsoft.com/office/drawing/2014/main" id="{C728BFA0-8558-5152-FA81-74B98B9CD7FD}"/>
              </a:ext>
            </a:extLst>
          </p:cNvPr>
          <p:cNvCxnSpPr>
            <a:cxnSpLocks/>
          </p:cNvCxnSpPr>
          <p:nvPr/>
        </p:nvCxnSpPr>
        <p:spPr>
          <a:xfrm flipH="1">
            <a:off x="565150" y="1937614"/>
            <a:ext cx="5359400" cy="0"/>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49" name="Connecteur droit 48">
            <a:extLst>
              <a:ext uri="{FF2B5EF4-FFF2-40B4-BE49-F238E27FC236}">
                <a16:creationId xmlns:a16="http://schemas.microsoft.com/office/drawing/2014/main" id="{9B9C0924-A2C3-4D93-D6D6-EDF689E13D33}"/>
              </a:ext>
            </a:extLst>
          </p:cNvPr>
          <p:cNvCxnSpPr>
            <a:cxnSpLocks/>
          </p:cNvCxnSpPr>
          <p:nvPr/>
        </p:nvCxnSpPr>
        <p:spPr>
          <a:xfrm flipH="1">
            <a:off x="555626" y="6401981"/>
            <a:ext cx="4825999" cy="0"/>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50" name="Connecteur droit 49">
            <a:extLst>
              <a:ext uri="{FF2B5EF4-FFF2-40B4-BE49-F238E27FC236}">
                <a16:creationId xmlns:a16="http://schemas.microsoft.com/office/drawing/2014/main" id="{BCC20385-00A4-B298-CFFB-5874E003DEA1}"/>
              </a:ext>
            </a:extLst>
          </p:cNvPr>
          <p:cNvCxnSpPr>
            <a:cxnSpLocks/>
          </p:cNvCxnSpPr>
          <p:nvPr/>
        </p:nvCxnSpPr>
        <p:spPr>
          <a:xfrm flipV="1">
            <a:off x="562548" y="1924856"/>
            <a:ext cx="0" cy="4468965"/>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8D4B3967-DD1D-D60E-4A8E-9C2E967BDAC3}"/>
              </a:ext>
            </a:extLst>
          </p:cNvPr>
          <p:cNvSpPr/>
          <p:nvPr/>
        </p:nvSpPr>
        <p:spPr>
          <a:xfrm>
            <a:off x="-2" y="307075"/>
            <a:ext cx="7943851" cy="1173707"/>
          </a:xfrm>
          <a:prstGeom prst="rect">
            <a:avLst/>
          </a:prstGeom>
          <a:solidFill>
            <a:srgbClr val="00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Titre 1">
            <a:extLst>
              <a:ext uri="{FF2B5EF4-FFF2-40B4-BE49-F238E27FC236}">
                <a16:creationId xmlns:a16="http://schemas.microsoft.com/office/drawing/2014/main" id="{DD0F86A6-1198-D5C2-6521-250985AF04D6}"/>
              </a:ext>
            </a:extLst>
          </p:cNvPr>
          <p:cNvSpPr txBox="1">
            <a:spLocks/>
          </p:cNvSpPr>
          <p:nvPr/>
        </p:nvSpPr>
        <p:spPr>
          <a:xfrm>
            <a:off x="838200" y="399246"/>
            <a:ext cx="10515600" cy="9382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solidFill>
                  <a:schemeClr val="bg1"/>
                </a:solidFill>
              </a:rPr>
              <a:t>KPI</a:t>
            </a:r>
          </a:p>
        </p:txBody>
      </p:sp>
      <p:graphicFrame>
        <p:nvGraphicFramePr>
          <p:cNvPr id="4" name="Diagramme 3">
            <a:extLst>
              <a:ext uri="{FF2B5EF4-FFF2-40B4-BE49-F238E27FC236}">
                <a16:creationId xmlns:a16="http://schemas.microsoft.com/office/drawing/2014/main" id="{481C822D-AD60-1478-9A5B-5C9AEC83111C}"/>
              </a:ext>
            </a:extLst>
          </p:cNvPr>
          <p:cNvGraphicFramePr/>
          <p:nvPr>
            <p:extLst>
              <p:ext uri="{D42A27DB-BD31-4B8C-83A1-F6EECF244321}">
                <p14:modId xmlns:p14="http://schemas.microsoft.com/office/powerpoint/2010/main" val="2645445354"/>
              </p:ext>
            </p:extLst>
          </p:nvPr>
        </p:nvGraphicFramePr>
        <p:xfrm>
          <a:off x="5784850" y="873654"/>
          <a:ext cx="5359400" cy="5617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Hexagone 4">
            <a:extLst>
              <a:ext uri="{FF2B5EF4-FFF2-40B4-BE49-F238E27FC236}">
                <a16:creationId xmlns:a16="http://schemas.microsoft.com/office/drawing/2014/main" id="{ED0C938B-4561-D440-0707-A756869ADA86}"/>
              </a:ext>
            </a:extLst>
          </p:cNvPr>
          <p:cNvSpPr/>
          <p:nvPr/>
        </p:nvSpPr>
        <p:spPr>
          <a:xfrm>
            <a:off x="7858125" y="4575175"/>
            <a:ext cx="1212850" cy="1035050"/>
          </a:xfrm>
          <a:prstGeom prst="hexagon">
            <a:avLst/>
          </a:prstGeom>
          <a:blipFill>
            <a:blip r:embed="rId7"/>
            <a:stretch>
              <a:fillRect/>
            </a:stretch>
          </a:blip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Hexagone 5">
            <a:extLst>
              <a:ext uri="{FF2B5EF4-FFF2-40B4-BE49-F238E27FC236}">
                <a16:creationId xmlns:a16="http://schemas.microsoft.com/office/drawing/2014/main" id="{FE84B952-FC38-4652-8604-DA24FAEDBE0B}"/>
              </a:ext>
            </a:extLst>
          </p:cNvPr>
          <p:cNvSpPr/>
          <p:nvPr/>
        </p:nvSpPr>
        <p:spPr>
          <a:xfrm>
            <a:off x="8894762" y="5140325"/>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800" kern="100"/>
              <a:t>Nombre d'homonymes identifiés via AGIRA 2</a:t>
            </a:r>
            <a:endParaRPr lang="fr-FR" sz="8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7" name="Hexagone 6">
            <a:extLst>
              <a:ext uri="{FF2B5EF4-FFF2-40B4-BE49-F238E27FC236}">
                <a16:creationId xmlns:a16="http://schemas.microsoft.com/office/drawing/2014/main" id="{1A560D29-D4D7-3354-89F0-6EC2C1D4D13A}"/>
              </a:ext>
            </a:extLst>
          </p:cNvPr>
          <p:cNvSpPr/>
          <p:nvPr/>
        </p:nvSpPr>
        <p:spPr>
          <a:xfrm>
            <a:off x="9931399" y="4575175"/>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800" kern="100" dirty="0"/>
              <a:t>Nombre de dossiers transmis à la CDC par type de déshérence (terme / décès en cours)</a:t>
            </a:r>
            <a:endParaRPr lang="fr-FR" sz="8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8" name="Hexagone 7">
            <a:extLst>
              <a:ext uri="{FF2B5EF4-FFF2-40B4-BE49-F238E27FC236}">
                <a16:creationId xmlns:a16="http://schemas.microsoft.com/office/drawing/2014/main" id="{2E4267F9-2DAA-7CE0-31B2-F508F6D9E6F5}"/>
              </a:ext>
            </a:extLst>
          </p:cNvPr>
          <p:cNvSpPr/>
          <p:nvPr/>
        </p:nvSpPr>
        <p:spPr>
          <a:xfrm>
            <a:off x="7896226" y="5654675"/>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800" kern="100" dirty="0">
                <a:solidFill>
                  <a:schemeClr val="bg1"/>
                </a:solidFill>
              </a:rPr>
              <a:t>Nombre de personnes distinctes interrogés via AGIRA 2 et % total</a:t>
            </a:r>
            <a:endParaRPr lang="fr-FR" sz="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9" name="Hexagone 8">
            <a:extLst>
              <a:ext uri="{FF2B5EF4-FFF2-40B4-BE49-F238E27FC236}">
                <a16:creationId xmlns:a16="http://schemas.microsoft.com/office/drawing/2014/main" id="{D1FEEA59-769C-3A7A-026C-8A8382E4D388}"/>
              </a:ext>
            </a:extLst>
          </p:cNvPr>
          <p:cNvSpPr/>
          <p:nvPr/>
        </p:nvSpPr>
        <p:spPr>
          <a:xfrm>
            <a:off x="6850063" y="5129213"/>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Hexagone 9">
            <a:extLst>
              <a:ext uri="{FF2B5EF4-FFF2-40B4-BE49-F238E27FC236}">
                <a16:creationId xmlns:a16="http://schemas.microsoft.com/office/drawing/2014/main" id="{8AEF7643-53E3-DB4A-3191-8A29B6617B51}"/>
              </a:ext>
            </a:extLst>
          </p:cNvPr>
          <p:cNvSpPr/>
          <p:nvPr/>
        </p:nvSpPr>
        <p:spPr>
          <a:xfrm>
            <a:off x="5814394" y="1216453"/>
            <a:ext cx="1212850" cy="1035050"/>
          </a:xfrm>
          <a:prstGeom prst="hexagon">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Hexagone 10">
            <a:extLst>
              <a:ext uri="{FF2B5EF4-FFF2-40B4-BE49-F238E27FC236}">
                <a16:creationId xmlns:a16="http://schemas.microsoft.com/office/drawing/2014/main" id="{71E8E0B7-F59C-EC5F-AD66-A4BA4C70434A}"/>
              </a:ext>
            </a:extLst>
          </p:cNvPr>
          <p:cNvSpPr/>
          <p:nvPr/>
        </p:nvSpPr>
        <p:spPr>
          <a:xfrm>
            <a:off x="9902824" y="2336800"/>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800" kern="100"/>
              <a:t>Nombre de personnes (donnée) déclarée et nombre de rejet via le GIP UR</a:t>
            </a:r>
            <a:endParaRPr lang="fr-FR" sz="8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12" name="Hexagone 11">
            <a:extLst>
              <a:ext uri="{FF2B5EF4-FFF2-40B4-BE49-F238E27FC236}">
                <a16:creationId xmlns:a16="http://schemas.microsoft.com/office/drawing/2014/main" id="{AB6C19DD-3A9C-93DF-2D22-61F878D26B78}"/>
              </a:ext>
            </a:extLst>
          </p:cNvPr>
          <p:cNvSpPr/>
          <p:nvPr/>
        </p:nvSpPr>
        <p:spPr>
          <a:xfrm>
            <a:off x="8886824" y="1782762"/>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Hexagone 12">
            <a:extLst>
              <a:ext uri="{FF2B5EF4-FFF2-40B4-BE49-F238E27FC236}">
                <a16:creationId xmlns:a16="http://schemas.microsoft.com/office/drawing/2014/main" id="{93D87D5E-B688-3941-F6FC-6FE9EE82D6E0}"/>
              </a:ext>
            </a:extLst>
          </p:cNvPr>
          <p:cNvSpPr/>
          <p:nvPr/>
        </p:nvSpPr>
        <p:spPr>
          <a:xfrm>
            <a:off x="5805489" y="4592464"/>
            <a:ext cx="1212850" cy="1035050"/>
          </a:xfrm>
          <a:prstGeom prst="hexagon">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Hexagone 13">
            <a:extLst>
              <a:ext uri="{FF2B5EF4-FFF2-40B4-BE49-F238E27FC236}">
                <a16:creationId xmlns:a16="http://schemas.microsoft.com/office/drawing/2014/main" id="{EA67BB1F-2890-1AB1-BF5B-7FE97FB31CFB}"/>
              </a:ext>
            </a:extLst>
          </p:cNvPr>
          <p:cNvSpPr/>
          <p:nvPr/>
        </p:nvSpPr>
        <p:spPr>
          <a:xfrm>
            <a:off x="9912349" y="5676900"/>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800" kern="100"/>
              <a:t>Nombre de dossier transmis hors délais à la CDC</a:t>
            </a:r>
            <a:endParaRPr lang="fr-FR" sz="8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15" name="Hexagone 14">
            <a:extLst>
              <a:ext uri="{FF2B5EF4-FFF2-40B4-BE49-F238E27FC236}">
                <a16:creationId xmlns:a16="http://schemas.microsoft.com/office/drawing/2014/main" id="{0FB99EDC-B71B-2294-C40B-F1DBF47AED36}"/>
              </a:ext>
            </a:extLst>
          </p:cNvPr>
          <p:cNvSpPr/>
          <p:nvPr/>
        </p:nvSpPr>
        <p:spPr>
          <a:xfrm>
            <a:off x="6819901" y="1759745"/>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Hexagone 15">
            <a:extLst>
              <a:ext uri="{FF2B5EF4-FFF2-40B4-BE49-F238E27FC236}">
                <a16:creationId xmlns:a16="http://schemas.microsoft.com/office/drawing/2014/main" id="{FBA5C4D5-AD73-7481-9BCA-A55435B32C23}"/>
              </a:ext>
            </a:extLst>
          </p:cNvPr>
          <p:cNvSpPr/>
          <p:nvPr/>
        </p:nvSpPr>
        <p:spPr>
          <a:xfrm>
            <a:off x="10929936" y="2863850"/>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kern="100"/>
              <a:t>Nombre de dossiers dormants depuis 2 ans</a:t>
            </a:r>
            <a:endParaRPr lang="fr-FR"/>
          </a:p>
        </p:txBody>
      </p:sp>
      <p:sp>
        <p:nvSpPr>
          <p:cNvPr id="17" name="Hexagone 16">
            <a:extLst>
              <a:ext uri="{FF2B5EF4-FFF2-40B4-BE49-F238E27FC236}">
                <a16:creationId xmlns:a16="http://schemas.microsoft.com/office/drawing/2014/main" id="{D677416C-EBAA-579C-8B02-6F67D34FBE0B}"/>
              </a:ext>
            </a:extLst>
          </p:cNvPr>
          <p:cNvSpPr/>
          <p:nvPr/>
        </p:nvSpPr>
        <p:spPr>
          <a:xfrm>
            <a:off x="7842248" y="1205707"/>
            <a:ext cx="1212850" cy="1035050"/>
          </a:xfrm>
          <a:prstGeom prst="hexagon">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Hexagone 17">
            <a:extLst>
              <a:ext uri="{FF2B5EF4-FFF2-40B4-BE49-F238E27FC236}">
                <a16:creationId xmlns:a16="http://schemas.microsoft.com/office/drawing/2014/main" id="{680E2302-5359-B264-38DA-8FE87BD08090}"/>
              </a:ext>
            </a:extLst>
          </p:cNvPr>
          <p:cNvSpPr/>
          <p:nvPr/>
        </p:nvSpPr>
        <p:spPr>
          <a:xfrm>
            <a:off x="9902824" y="1231900"/>
            <a:ext cx="1212850" cy="1035050"/>
          </a:xfrm>
          <a:prstGeom prst="hexagon">
            <a:avLst/>
          </a:prstGeom>
          <a:blipFill>
            <a:blip r:embed="rId8"/>
            <a:stretch>
              <a:fillRect/>
            </a:stretch>
          </a:blip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Hexagone 18">
            <a:extLst>
              <a:ext uri="{FF2B5EF4-FFF2-40B4-BE49-F238E27FC236}">
                <a16:creationId xmlns:a16="http://schemas.microsoft.com/office/drawing/2014/main" id="{CBE241B6-AFE4-3609-41DD-F35829CC3AAB}"/>
              </a:ext>
            </a:extLst>
          </p:cNvPr>
          <p:cNvSpPr/>
          <p:nvPr/>
        </p:nvSpPr>
        <p:spPr>
          <a:xfrm>
            <a:off x="7842248" y="112330"/>
            <a:ext cx="1212850" cy="1035050"/>
          </a:xfrm>
          <a:prstGeom prst="hexagon">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Hexagone 19">
            <a:extLst>
              <a:ext uri="{FF2B5EF4-FFF2-40B4-BE49-F238E27FC236}">
                <a16:creationId xmlns:a16="http://schemas.microsoft.com/office/drawing/2014/main" id="{A6F6DA63-928B-3012-8D49-79F43D316292}"/>
              </a:ext>
            </a:extLst>
          </p:cNvPr>
          <p:cNvSpPr/>
          <p:nvPr/>
        </p:nvSpPr>
        <p:spPr>
          <a:xfrm>
            <a:off x="6833534" y="670669"/>
            <a:ext cx="1212850" cy="1035050"/>
          </a:xfrm>
          <a:prstGeom prst="hexagon">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Hexagone 20">
            <a:extLst>
              <a:ext uri="{FF2B5EF4-FFF2-40B4-BE49-F238E27FC236}">
                <a16:creationId xmlns:a16="http://schemas.microsoft.com/office/drawing/2014/main" id="{8E936914-9AB7-635B-355A-FADBA38A218A}"/>
              </a:ext>
            </a:extLst>
          </p:cNvPr>
          <p:cNvSpPr/>
          <p:nvPr/>
        </p:nvSpPr>
        <p:spPr>
          <a:xfrm>
            <a:off x="8880760" y="682235"/>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Hexagone 21">
            <a:extLst>
              <a:ext uri="{FF2B5EF4-FFF2-40B4-BE49-F238E27FC236}">
                <a16:creationId xmlns:a16="http://schemas.microsoft.com/office/drawing/2014/main" id="{D778CA98-63B9-F28A-EF4F-D482975DA42F}"/>
              </a:ext>
            </a:extLst>
          </p:cNvPr>
          <p:cNvSpPr/>
          <p:nvPr/>
        </p:nvSpPr>
        <p:spPr>
          <a:xfrm>
            <a:off x="10918825" y="3994150"/>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fr-FR" sz="800" kern="100"/>
              <a:t>Nombre de décès identifié via les déclarations GIP UR (loi labaronne)</a:t>
            </a:r>
            <a:endParaRPr lang="fr-FR" sz="8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23" name="Hexagone 22">
            <a:extLst>
              <a:ext uri="{FF2B5EF4-FFF2-40B4-BE49-F238E27FC236}">
                <a16:creationId xmlns:a16="http://schemas.microsoft.com/office/drawing/2014/main" id="{B072D71B-7F43-75D0-594E-38C913BFB761}"/>
              </a:ext>
            </a:extLst>
          </p:cNvPr>
          <p:cNvSpPr/>
          <p:nvPr/>
        </p:nvSpPr>
        <p:spPr>
          <a:xfrm>
            <a:off x="10909300" y="688975"/>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Hexagone 23">
            <a:extLst>
              <a:ext uri="{FF2B5EF4-FFF2-40B4-BE49-F238E27FC236}">
                <a16:creationId xmlns:a16="http://schemas.microsoft.com/office/drawing/2014/main" id="{307F6B77-D33B-F1F9-09A5-C56F9D1C4ABE}"/>
              </a:ext>
            </a:extLst>
          </p:cNvPr>
          <p:cNvSpPr/>
          <p:nvPr/>
        </p:nvSpPr>
        <p:spPr>
          <a:xfrm>
            <a:off x="9902824" y="146050"/>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800" kern="100"/>
              <a:t>Nombre de dossiers sans relance depuis plus de 100 jours</a:t>
            </a:r>
            <a:endParaRPr lang="fr-FR" sz="8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25" name="Hexagone 24">
            <a:extLst>
              <a:ext uri="{FF2B5EF4-FFF2-40B4-BE49-F238E27FC236}">
                <a16:creationId xmlns:a16="http://schemas.microsoft.com/office/drawing/2014/main" id="{D148E7F9-BD9E-DF05-6105-6F79A22FEE11}"/>
              </a:ext>
            </a:extLst>
          </p:cNvPr>
          <p:cNvSpPr/>
          <p:nvPr/>
        </p:nvSpPr>
        <p:spPr>
          <a:xfrm>
            <a:off x="8880760" y="4013200"/>
            <a:ext cx="1224979"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800" kern="100"/>
              <a:t>Délais moyens de traitement hors AGIRA</a:t>
            </a:r>
            <a:endParaRPr lang="fr-FR" sz="8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33" name="Hexagone 32">
            <a:extLst>
              <a:ext uri="{FF2B5EF4-FFF2-40B4-BE49-F238E27FC236}">
                <a16:creationId xmlns:a16="http://schemas.microsoft.com/office/drawing/2014/main" id="{239B7221-865E-8C8F-2617-BF48438F7F3E}"/>
              </a:ext>
            </a:extLst>
          </p:cNvPr>
          <p:cNvSpPr/>
          <p:nvPr/>
        </p:nvSpPr>
        <p:spPr>
          <a:xfrm>
            <a:off x="10929936" y="5141652"/>
            <a:ext cx="1212850" cy="103505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ZoneTexte 34">
            <a:extLst>
              <a:ext uri="{FF2B5EF4-FFF2-40B4-BE49-F238E27FC236}">
                <a16:creationId xmlns:a16="http://schemas.microsoft.com/office/drawing/2014/main" id="{6FB8E61B-EC6D-2312-E20E-6A1BB0FDB30F}"/>
              </a:ext>
            </a:extLst>
          </p:cNvPr>
          <p:cNvSpPr txBox="1"/>
          <p:nvPr/>
        </p:nvSpPr>
        <p:spPr>
          <a:xfrm>
            <a:off x="6923734" y="912677"/>
            <a:ext cx="998825" cy="584775"/>
          </a:xfrm>
          <a:prstGeom prst="rect">
            <a:avLst/>
          </a:prstGeom>
          <a:noFill/>
        </p:spPr>
        <p:txBody>
          <a:bodyPr wrap="square">
            <a:spAutoFit/>
          </a:bodyPr>
          <a:lstStyle/>
          <a:p>
            <a:pPr algn="ctr">
              <a:buNone/>
            </a:pPr>
            <a:r>
              <a:rPr lang="fr-FR" sz="800" kern="100" dirty="0">
                <a:solidFill>
                  <a:schemeClr val="bg1"/>
                </a:solidFill>
                <a:effectLst/>
              </a:rPr>
              <a:t>Dossiers classés sans suite en nombre et en % du total de décès</a:t>
            </a:r>
            <a:endParaRPr lang="fr-FR" sz="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36" name="ZoneTexte 35">
            <a:extLst>
              <a:ext uri="{FF2B5EF4-FFF2-40B4-BE49-F238E27FC236}">
                <a16:creationId xmlns:a16="http://schemas.microsoft.com/office/drawing/2014/main" id="{43CADEBA-C0C3-6EA2-210D-FCB9DD06CB1B}"/>
              </a:ext>
            </a:extLst>
          </p:cNvPr>
          <p:cNvSpPr txBox="1"/>
          <p:nvPr/>
        </p:nvSpPr>
        <p:spPr>
          <a:xfrm>
            <a:off x="7902860" y="1485230"/>
            <a:ext cx="1067449" cy="461665"/>
          </a:xfrm>
          <a:prstGeom prst="rect">
            <a:avLst/>
          </a:prstGeom>
          <a:noFill/>
        </p:spPr>
        <p:txBody>
          <a:bodyPr wrap="square">
            <a:spAutoFit/>
          </a:bodyPr>
          <a:lstStyle/>
          <a:p>
            <a:pPr algn="ctr">
              <a:buNone/>
            </a:pPr>
            <a:r>
              <a:rPr lang="fr-FR" sz="800" kern="100" dirty="0">
                <a:solidFill>
                  <a:schemeClr val="bg1"/>
                </a:solidFill>
              </a:rPr>
              <a:t>Dossiers hors délai pour le règlement de capitaux en %</a:t>
            </a:r>
            <a:endParaRPr lang="fr-FR" sz="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37" name="ZoneTexte 36">
            <a:extLst>
              <a:ext uri="{FF2B5EF4-FFF2-40B4-BE49-F238E27FC236}">
                <a16:creationId xmlns:a16="http://schemas.microsoft.com/office/drawing/2014/main" id="{4DC0196B-B212-F46B-09F6-D9F430FA2F7A}"/>
              </a:ext>
            </a:extLst>
          </p:cNvPr>
          <p:cNvSpPr txBox="1"/>
          <p:nvPr/>
        </p:nvSpPr>
        <p:spPr>
          <a:xfrm>
            <a:off x="6903096" y="1877045"/>
            <a:ext cx="1067449" cy="830997"/>
          </a:xfrm>
          <a:prstGeom prst="rect">
            <a:avLst/>
          </a:prstGeom>
          <a:noFill/>
        </p:spPr>
        <p:txBody>
          <a:bodyPr wrap="square">
            <a:spAutoFit/>
          </a:bodyPr>
          <a:lstStyle/>
          <a:p>
            <a:pPr algn="ctr">
              <a:buNone/>
            </a:pPr>
            <a:r>
              <a:rPr lang="fr-FR" sz="800" kern="100" dirty="0">
                <a:solidFill>
                  <a:schemeClr val="bg1"/>
                </a:solidFill>
              </a:rPr>
              <a:t>Délai moyen de traitement pour les suspicions personnes décédées révélées par Agira 1</a:t>
            </a:r>
            <a:endParaRPr lang="fr-FR" sz="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38" name="ZoneTexte 37">
            <a:extLst>
              <a:ext uri="{FF2B5EF4-FFF2-40B4-BE49-F238E27FC236}">
                <a16:creationId xmlns:a16="http://schemas.microsoft.com/office/drawing/2014/main" id="{230E68B5-DD4F-AAA4-E973-971047256B43}"/>
              </a:ext>
            </a:extLst>
          </p:cNvPr>
          <p:cNvSpPr txBox="1"/>
          <p:nvPr/>
        </p:nvSpPr>
        <p:spPr>
          <a:xfrm>
            <a:off x="7922559" y="171480"/>
            <a:ext cx="1067449" cy="830997"/>
          </a:xfrm>
          <a:prstGeom prst="rect">
            <a:avLst/>
          </a:prstGeom>
          <a:noFill/>
        </p:spPr>
        <p:txBody>
          <a:bodyPr wrap="square">
            <a:spAutoFit/>
          </a:bodyPr>
          <a:lstStyle/>
          <a:p>
            <a:pPr algn="ctr">
              <a:buNone/>
            </a:pPr>
            <a:r>
              <a:rPr lang="fr-FR" sz="800" kern="100" dirty="0">
                <a:solidFill>
                  <a:schemeClr val="bg1"/>
                </a:solidFill>
              </a:rPr>
              <a:t>Délai moyen de traitement pour les suspicions personnes décédées révélées par Agira Obsèques</a:t>
            </a:r>
            <a:endParaRPr lang="fr-FR" sz="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39" name="ZoneTexte 38">
            <a:extLst>
              <a:ext uri="{FF2B5EF4-FFF2-40B4-BE49-F238E27FC236}">
                <a16:creationId xmlns:a16="http://schemas.microsoft.com/office/drawing/2014/main" id="{318DC03D-DE51-1F86-F170-DA9A81785B5E}"/>
              </a:ext>
            </a:extLst>
          </p:cNvPr>
          <p:cNvSpPr txBox="1"/>
          <p:nvPr/>
        </p:nvSpPr>
        <p:spPr>
          <a:xfrm>
            <a:off x="8943324" y="769630"/>
            <a:ext cx="1067449" cy="830997"/>
          </a:xfrm>
          <a:prstGeom prst="rect">
            <a:avLst/>
          </a:prstGeom>
          <a:noFill/>
        </p:spPr>
        <p:txBody>
          <a:bodyPr wrap="square">
            <a:spAutoFit/>
          </a:bodyPr>
          <a:lstStyle/>
          <a:p>
            <a:pPr algn="ctr">
              <a:buNone/>
            </a:pPr>
            <a:r>
              <a:rPr lang="fr-FR" sz="800" kern="100" dirty="0">
                <a:solidFill>
                  <a:schemeClr val="bg1"/>
                </a:solidFill>
              </a:rPr>
              <a:t>Délai moyen de traitement pour les suspicions personnes décédées révélées par Agira 2</a:t>
            </a:r>
            <a:endParaRPr lang="fr-FR" sz="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40" name="ZoneTexte 39">
            <a:extLst>
              <a:ext uri="{FF2B5EF4-FFF2-40B4-BE49-F238E27FC236}">
                <a16:creationId xmlns:a16="http://schemas.microsoft.com/office/drawing/2014/main" id="{297F0A0A-BE32-6C42-5C17-CC9370712C9B}"/>
              </a:ext>
            </a:extLst>
          </p:cNvPr>
          <p:cNvSpPr txBox="1"/>
          <p:nvPr/>
        </p:nvSpPr>
        <p:spPr>
          <a:xfrm>
            <a:off x="8977021" y="1937614"/>
            <a:ext cx="1067449" cy="707886"/>
          </a:xfrm>
          <a:prstGeom prst="rect">
            <a:avLst/>
          </a:prstGeom>
          <a:noFill/>
        </p:spPr>
        <p:txBody>
          <a:bodyPr wrap="square">
            <a:spAutoFit/>
          </a:bodyPr>
          <a:lstStyle/>
          <a:p>
            <a:pPr algn="ctr">
              <a:buNone/>
            </a:pPr>
            <a:r>
              <a:rPr lang="fr-FR" sz="800" kern="100" dirty="0">
                <a:solidFill>
                  <a:schemeClr val="bg1"/>
                </a:solidFill>
              </a:rPr>
              <a:t>% de dossier traités dans le délai règlementaire (AGIRA 1 et Obsèques)</a:t>
            </a:r>
            <a:endParaRPr lang="fr-FR" sz="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41" name="ZoneTexte 40">
            <a:extLst>
              <a:ext uri="{FF2B5EF4-FFF2-40B4-BE49-F238E27FC236}">
                <a16:creationId xmlns:a16="http://schemas.microsoft.com/office/drawing/2014/main" id="{AE4480CE-5118-A032-B462-C721E8BA1092}"/>
              </a:ext>
            </a:extLst>
          </p:cNvPr>
          <p:cNvSpPr txBox="1"/>
          <p:nvPr/>
        </p:nvSpPr>
        <p:spPr>
          <a:xfrm>
            <a:off x="5887095" y="1367929"/>
            <a:ext cx="1067449" cy="707886"/>
          </a:xfrm>
          <a:prstGeom prst="rect">
            <a:avLst/>
          </a:prstGeom>
          <a:noFill/>
          <a:ln>
            <a:noFill/>
          </a:ln>
        </p:spPr>
        <p:txBody>
          <a:bodyPr wrap="square">
            <a:spAutoFit/>
          </a:bodyPr>
          <a:lstStyle/>
          <a:p>
            <a:pPr algn="ctr">
              <a:buNone/>
            </a:pPr>
            <a:r>
              <a:rPr lang="fr-FR" sz="800" kern="100" dirty="0">
                <a:solidFill>
                  <a:schemeClr val="bg1"/>
                </a:solidFill>
              </a:rPr>
              <a:t>Montant des intérêts de retard et nombre de bénéficiaires en dépassement</a:t>
            </a:r>
            <a:endParaRPr lang="fr-FR" sz="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42" name="ZoneTexte 41">
            <a:extLst>
              <a:ext uri="{FF2B5EF4-FFF2-40B4-BE49-F238E27FC236}">
                <a16:creationId xmlns:a16="http://schemas.microsoft.com/office/drawing/2014/main" id="{F42FE4E0-DEC5-5712-ABD6-41A3C70EFD31}"/>
              </a:ext>
            </a:extLst>
          </p:cNvPr>
          <p:cNvSpPr txBox="1"/>
          <p:nvPr/>
        </p:nvSpPr>
        <p:spPr>
          <a:xfrm>
            <a:off x="5870573" y="4834019"/>
            <a:ext cx="1067449" cy="584775"/>
          </a:xfrm>
          <a:prstGeom prst="rect">
            <a:avLst/>
          </a:prstGeom>
          <a:noFill/>
        </p:spPr>
        <p:txBody>
          <a:bodyPr wrap="square">
            <a:spAutoFit/>
          </a:bodyPr>
          <a:lstStyle/>
          <a:p>
            <a:pPr algn="ctr">
              <a:buNone/>
            </a:pPr>
            <a:r>
              <a:rPr lang="fr-FR" sz="800" kern="100" dirty="0">
                <a:solidFill>
                  <a:schemeClr val="bg1"/>
                </a:solidFill>
              </a:rPr>
              <a:t>Nombre d'assurés centenaires non décédés (par entité) </a:t>
            </a:r>
            <a:endParaRPr lang="fr-FR" sz="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43" name="ZoneTexte 42">
            <a:extLst>
              <a:ext uri="{FF2B5EF4-FFF2-40B4-BE49-F238E27FC236}">
                <a16:creationId xmlns:a16="http://schemas.microsoft.com/office/drawing/2014/main" id="{C69731FD-CC5A-E488-2117-7389B5615698}"/>
              </a:ext>
            </a:extLst>
          </p:cNvPr>
          <p:cNvSpPr txBox="1"/>
          <p:nvPr/>
        </p:nvSpPr>
        <p:spPr>
          <a:xfrm>
            <a:off x="6938311" y="5447978"/>
            <a:ext cx="1067449" cy="338554"/>
          </a:xfrm>
          <a:prstGeom prst="rect">
            <a:avLst/>
          </a:prstGeom>
          <a:noFill/>
        </p:spPr>
        <p:txBody>
          <a:bodyPr wrap="square">
            <a:spAutoFit/>
          </a:bodyPr>
          <a:lstStyle/>
          <a:p>
            <a:pPr algn="ctr">
              <a:buNone/>
            </a:pPr>
            <a:r>
              <a:rPr lang="fr-FR" sz="800" kern="100" dirty="0">
                <a:solidFill>
                  <a:schemeClr val="bg1"/>
                </a:solidFill>
              </a:rPr>
              <a:t>Nombre d'assurés au-delà de 120 ans</a:t>
            </a:r>
            <a:endParaRPr lang="fr-FR" sz="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44" name="ZoneTexte 43">
            <a:extLst>
              <a:ext uri="{FF2B5EF4-FFF2-40B4-BE49-F238E27FC236}">
                <a16:creationId xmlns:a16="http://schemas.microsoft.com/office/drawing/2014/main" id="{DE063A4D-39E4-540B-01B1-0B5A610D9340}"/>
              </a:ext>
            </a:extLst>
          </p:cNvPr>
          <p:cNvSpPr txBox="1"/>
          <p:nvPr/>
        </p:nvSpPr>
        <p:spPr>
          <a:xfrm>
            <a:off x="11005814" y="765601"/>
            <a:ext cx="1067449" cy="830997"/>
          </a:xfrm>
          <a:prstGeom prst="rect">
            <a:avLst/>
          </a:prstGeom>
          <a:noFill/>
        </p:spPr>
        <p:txBody>
          <a:bodyPr wrap="square">
            <a:spAutoFit/>
          </a:bodyPr>
          <a:lstStyle/>
          <a:p>
            <a:pPr algn="ctr">
              <a:buNone/>
            </a:pPr>
            <a:r>
              <a:rPr lang="fr-FR" sz="800" kern="100" dirty="0">
                <a:solidFill>
                  <a:schemeClr val="bg1"/>
                </a:solidFill>
              </a:rPr>
              <a:t>% des dossiers soldés vs dossiers identifiés par année de survenance. (Ouverts dans l'année) </a:t>
            </a:r>
            <a:endParaRPr lang="fr-FR" sz="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45" name="ZoneTexte 44">
            <a:extLst>
              <a:ext uri="{FF2B5EF4-FFF2-40B4-BE49-F238E27FC236}">
                <a16:creationId xmlns:a16="http://schemas.microsoft.com/office/drawing/2014/main" id="{501E8B8A-E1C3-FC88-A435-C7EC3D3DD82A}"/>
              </a:ext>
            </a:extLst>
          </p:cNvPr>
          <p:cNvSpPr txBox="1"/>
          <p:nvPr/>
        </p:nvSpPr>
        <p:spPr>
          <a:xfrm>
            <a:off x="10989615" y="5228064"/>
            <a:ext cx="1067449" cy="830997"/>
          </a:xfrm>
          <a:prstGeom prst="rect">
            <a:avLst/>
          </a:prstGeom>
          <a:noFill/>
        </p:spPr>
        <p:txBody>
          <a:bodyPr wrap="square">
            <a:spAutoFit/>
          </a:bodyPr>
          <a:lstStyle/>
          <a:p>
            <a:pPr algn="ctr">
              <a:buNone/>
            </a:pPr>
            <a:r>
              <a:rPr lang="fr-FR" sz="800" kern="100" dirty="0">
                <a:solidFill>
                  <a:schemeClr val="bg1"/>
                </a:solidFill>
              </a:rPr>
              <a:t>Nb de demandes reçues en N de l'AGIRA (AGIRA 2) pour lesquels le décès de l'assuré était déjà connu</a:t>
            </a:r>
            <a:endParaRPr lang="fr-FR" sz="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54" name="Ellipse 53">
            <a:extLst>
              <a:ext uri="{FF2B5EF4-FFF2-40B4-BE49-F238E27FC236}">
                <a16:creationId xmlns:a16="http://schemas.microsoft.com/office/drawing/2014/main" id="{B28E09D5-4C67-A74F-4837-66C6CC4938FF}"/>
              </a:ext>
            </a:extLst>
          </p:cNvPr>
          <p:cNvSpPr/>
          <p:nvPr/>
        </p:nvSpPr>
        <p:spPr>
          <a:xfrm>
            <a:off x="318794" y="2622550"/>
            <a:ext cx="526317" cy="526317"/>
          </a:xfrm>
          <a:prstGeom prst="ellipse">
            <a:avLst/>
          </a:prstGeom>
          <a:solidFill>
            <a:schemeClr val="bg1"/>
          </a:solidFill>
          <a:ln>
            <a:solidFill>
              <a:srgbClr val="005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Ellipse 54">
            <a:extLst>
              <a:ext uri="{FF2B5EF4-FFF2-40B4-BE49-F238E27FC236}">
                <a16:creationId xmlns:a16="http://schemas.microsoft.com/office/drawing/2014/main" id="{6A27845B-244D-F180-7903-F7690FB1B171}"/>
              </a:ext>
            </a:extLst>
          </p:cNvPr>
          <p:cNvSpPr/>
          <p:nvPr/>
        </p:nvSpPr>
        <p:spPr>
          <a:xfrm>
            <a:off x="318794" y="3948278"/>
            <a:ext cx="526317" cy="526317"/>
          </a:xfrm>
          <a:prstGeom prst="ellipse">
            <a:avLst/>
          </a:prstGeom>
          <a:solidFill>
            <a:schemeClr val="bg1"/>
          </a:solidFill>
          <a:ln>
            <a:solidFill>
              <a:srgbClr val="005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Ellipse 55">
            <a:extLst>
              <a:ext uri="{FF2B5EF4-FFF2-40B4-BE49-F238E27FC236}">
                <a16:creationId xmlns:a16="http://schemas.microsoft.com/office/drawing/2014/main" id="{F3290CAA-FD45-1D93-AB02-6739B2739265}"/>
              </a:ext>
            </a:extLst>
          </p:cNvPr>
          <p:cNvSpPr/>
          <p:nvPr/>
        </p:nvSpPr>
        <p:spPr>
          <a:xfrm>
            <a:off x="318794" y="5274006"/>
            <a:ext cx="526317" cy="526317"/>
          </a:xfrm>
          <a:prstGeom prst="ellipse">
            <a:avLst/>
          </a:prstGeom>
          <a:solidFill>
            <a:schemeClr val="bg1"/>
          </a:solidFill>
          <a:ln>
            <a:solidFill>
              <a:srgbClr val="005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8" name="Graphique 57" descr="Intelligence artificielle avec un remplissage uni">
            <a:extLst>
              <a:ext uri="{FF2B5EF4-FFF2-40B4-BE49-F238E27FC236}">
                <a16:creationId xmlns:a16="http://schemas.microsoft.com/office/drawing/2014/main" id="{D0944BEF-563D-5D70-4528-665291030C3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58363" y="2641187"/>
            <a:ext cx="479837" cy="479837"/>
          </a:xfrm>
          <a:prstGeom prst="rect">
            <a:avLst/>
          </a:prstGeom>
        </p:spPr>
      </p:pic>
      <p:pic>
        <p:nvPicPr>
          <p:cNvPr id="60" name="Graphique 59" descr="Produits chimiques avec un remplissage uni">
            <a:extLst>
              <a:ext uri="{FF2B5EF4-FFF2-40B4-BE49-F238E27FC236}">
                <a16:creationId xmlns:a16="http://schemas.microsoft.com/office/drawing/2014/main" id="{B68AE9B1-D3EB-5673-78F3-D7D969EF8D0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0761" y="3992878"/>
            <a:ext cx="514350" cy="514350"/>
          </a:xfrm>
          <a:prstGeom prst="rect">
            <a:avLst/>
          </a:prstGeom>
        </p:spPr>
      </p:pic>
      <p:pic>
        <p:nvPicPr>
          <p:cNvPr id="62" name="Graphique 61" descr="Calendrier journalier contour">
            <a:extLst>
              <a:ext uri="{FF2B5EF4-FFF2-40B4-BE49-F238E27FC236}">
                <a16:creationId xmlns:a16="http://schemas.microsoft.com/office/drawing/2014/main" id="{234AA867-0829-BFCE-348E-5C9A9347F9C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58363" y="5308564"/>
            <a:ext cx="457200" cy="457200"/>
          </a:xfrm>
          <a:prstGeom prst="rect">
            <a:avLst/>
          </a:prstGeom>
        </p:spPr>
      </p:pic>
      <p:sp>
        <p:nvSpPr>
          <p:cNvPr id="66" name="ZoneTexte 65">
            <a:extLst>
              <a:ext uri="{FF2B5EF4-FFF2-40B4-BE49-F238E27FC236}">
                <a16:creationId xmlns:a16="http://schemas.microsoft.com/office/drawing/2014/main" id="{6D1A33C5-1B54-1DB9-D11A-88DC63681841}"/>
              </a:ext>
            </a:extLst>
          </p:cNvPr>
          <p:cNvSpPr txBox="1"/>
          <p:nvPr/>
        </p:nvSpPr>
        <p:spPr>
          <a:xfrm>
            <a:off x="1022344" y="3870103"/>
            <a:ext cx="4445012" cy="738664"/>
          </a:xfrm>
          <a:prstGeom prst="rect">
            <a:avLst/>
          </a:prstGeom>
          <a:noFill/>
        </p:spPr>
        <p:txBody>
          <a:bodyPr wrap="square" rtlCol="0">
            <a:spAutoFit/>
          </a:bodyPr>
          <a:lstStyle/>
          <a:p>
            <a:r>
              <a:rPr lang="fr-FR" sz="1400" dirty="0"/>
              <a:t>24 KPI de suivi de l’activité ont été identifiés, certains sont déjà en production, d’autres vont être testés afin de constituer un tableau de bord de suivi</a:t>
            </a:r>
          </a:p>
        </p:txBody>
      </p:sp>
      <p:sp>
        <p:nvSpPr>
          <p:cNvPr id="67" name="ZoneTexte 66">
            <a:extLst>
              <a:ext uri="{FF2B5EF4-FFF2-40B4-BE49-F238E27FC236}">
                <a16:creationId xmlns:a16="http://schemas.microsoft.com/office/drawing/2014/main" id="{A9C0B082-0993-A98F-55A6-3590F878FCB4}"/>
              </a:ext>
            </a:extLst>
          </p:cNvPr>
          <p:cNvSpPr txBox="1"/>
          <p:nvPr/>
        </p:nvSpPr>
        <p:spPr>
          <a:xfrm>
            <a:off x="1022344" y="5146947"/>
            <a:ext cx="4445012" cy="954107"/>
          </a:xfrm>
          <a:prstGeom prst="rect">
            <a:avLst/>
          </a:prstGeom>
          <a:noFill/>
        </p:spPr>
        <p:txBody>
          <a:bodyPr wrap="square" rtlCol="0">
            <a:spAutoFit/>
          </a:bodyPr>
          <a:lstStyle/>
          <a:p>
            <a:r>
              <a:rPr lang="fr-FR" sz="1400" dirty="0"/>
              <a:t>Les KPI seront transmis semestriellement et présentés lors des comités déshérence (annuellement pour certains KPI obligatoires utilisés dans les </a:t>
            </a:r>
            <a:r>
              <a:rPr lang="fr-FR" sz="1400" dirty="0" err="1"/>
              <a:t>reportings</a:t>
            </a:r>
            <a:r>
              <a:rPr lang="fr-FR" sz="1400" dirty="0"/>
              <a:t> réglementaires)</a:t>
            </a:r>
          </a:p>
        </p:txBody>
      </p:sp>
      <p:cxnSp>
        <p:nvCxnSpPr>
          <p:cNvPr id="72" name="Connecteur droit 71">
            <a:extLst>
              <a:ext uri="{FF2B5EF4-FFF2-40B4-BE49-F238E27FC236}">
                <a16:creationId xmlns:a16="http://schemas.microsoft.com/office/drawing/2014/main" id="{1A6C70EE-F457-44A9-70A4-1911195531AE}"/>
              </a:ext>
            </a:extLst>
          </p:cNvPr>
          <p:cNvCxnSpPr/>
          <p:nvPr/>
        </p:nvCxnSpPr>
        <p:spPr>
          <a:xfrm>
            <a:off x="5391150" y="6391275"/>
            <a:ext cx="0" cy="466725"/>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74" name="Connecteur droit 73">
            <a:extLst>
              <a:ext uri="{FF2B5EF4-FFF2-40B4-BE49-F238E27FC236}">
                <a16:creationId xmlns:a16="http://schemas.microsoft.com/office/drawing/2014/main" id="{A1DD15E8-11B0-4A29-8B2C-832DF0E96EBE}"/>
              </a:ext>
            </a:extLst>
          </p:cNvPr>
          <p:cNvCxnSpPr/>
          <p:nvPr/>
        </p:nvCxnSpPr>
        <p:spPr>
          <a:xfrm flipV="1">
            <a:off x="6505575" y="0"/>
            <a:ext cx="0" cy="307075"/>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9115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CCADE-CA07-B29A-DD33-2894AC5D0580}"/>
            </a:ext>
          </a:extLst>
        </p:cNvPr>
        <p:cNvGrpSpPr/>
        <p:nvPr/>
      </p:nvGrpSpPr>
      <p:grpSpPr>
        <a:xfrm>
          <a:off x="0" y="0"/>
          <a:ext cx="0" cy="0"/>
          <a:chOff x="0" y="0"/>
          <a:chExt cx="0" cy="0"/>
        </a:xfrm>
      </p:grpSpPr>
      <p:cxnSp>
        <p:nvCxnSpPr>
          <p:cNvPr id="31" name="Connecteur droit 30">
            <a:extLst>
              <a:ext uri="{FF2B5EF4-FFF2-40B4-BE49-F238E27FC236}">
                <a16:creationId xmlns:a16="http://schemas.microsoft.com/office/drawing/2014/main" id="{CA7EE3BA-B384-5D6E-6522-B6EE2AC984DB}"/>
              </a:ext>
            </a:extLst>
          </p:cNvPr>
          <p:cNvCxnSpPr>
            <a:cxnSpLocks/>
          </p:cNvCxnSpPr>
          <p:nvPr/>
        </p:nvCxnSpPr>
        <p:spPr>
          <a:xfrm flipV="1">
            <a:off x="5353050" y="0"/>
            <a:ext cx="0" cy="4499451"/>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25" name="Connecteur droit 24">
            <a:extLst>
              <a:ext uri="{FF2B5EF4-FFF2-40B4-BE49-F238E27FC236}">
                <a16:creationId xmlns:a16="http://schemas.microsoft.com/office/drawing/2014/main" id="{74DB5CE5-D87A-E30C-5DD4-8CE026F8E1C4}"/>
              </a:ext>
            </a:extLst>
          </p:cNvPr>
          <p:cNvCxnSpPr>
            <a:cxnSpLocks/>
            <a:stCxn id="19" idx="4"/>
          </p:cNvCxnSpPr>
          <p:nvPr/>
        </p:nvCxnSpPr>
        <p:spPr>
          <a:xfrm>
            <a:off x="838200" y="6512825"/>
            <a:ext cx="5619750" cy="0"/>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23" name="Connecteur droit 22">
            <a:extLst>
              <a:ext uri="{FF2B5EF4-FFF2-40B4-BE49-F238E27FC236}">
                <a16:creationId xmlns:a16="http://schemas.microsoft.com/office/drawing/2014/main" id="{DEB8AD0A-8FCD-48CE-55A3-1703506C29BC}"/>
              </a:ext>
            </a:extLst>
          </p:cNvPr>
          <p:cNvCxnSpPr>
            <a:stCxn id="17" idx="4"/>
            <a:endCxn id="19" idx="4"/>
          </p:cNvCxnSpPr>
          <p:nvPr/>
        </p:nvCxnSpPr>
        <p:spPr>
          <a:xfrm>
            <a:off x="838200" y="5025768"/>
            <a:ext cx="0" cy="1487057"/>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sp>
        <p:nvSpPr>
          <p:cNvPr id="18" name="Ellipse 17">
            <a:extLst>
              <a:ext uri="{FF2B5EF4-FFF2-40B4-BE49-F238E27FC236}">
                <a16:creationId xmlns:a16="http://schemas.microsoft.com/office/drawing/2014/main" id="{08ED7517-F998-9EF6-A7E6-EF3040734EF0}"/>
              </a:ext>
            </a:extLst>
          </p:cNvPr>
          <p:cNvSpPr/>
          <p:nvPr/>
        </p:nvSpPr>
        <p:spPr>
          <a:xfrm>
            <a:off x="575041" y="5250502"/>
            <a:ext cx="526317" cy="526317"/>
          </a:xfrm>
          <a:prstGeom prst="ellipse">
            <a:avLst/>
          </a:prstGeom>
          <a:solidFill>
            <a:schemeClr val="bg1"/>
          </a:solidFill>
          <a:ln>
            <a:solidFill>
              <a:srgbClr val="005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C6961C5A-6039-2794-6AB2-1D3B05799EC2}"/>
              </a:ext>
            </a:extLst>
          </p:cNvPr>
          <p:cNvSpPr/>
          <p:nvPr/>
        </p:nvSpPr>
        <p:spPr>
          <a:xfrm>
            <a:off x="575041" y="5986508"/>
            <a:ext cx="526317" cy="526317"/>
          </a:xfrm>
          <a:prstGeom prst="ellipse">
            <a:avLst/>
          </a:prstGeom>
          <a:solidFill>
            <a:schemeClr val="bg1"/>
          </a:solidFill>
          <a:ln>
            <a:solidFill>
              <a:srgbClr val="005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A388A9FE-F300-FCDC-319F-FDF82F416C64}"/>
              </a:ext>
            </a:extLst>
          </p:cNvPr>
          <p:cNvSpPr/>
          <p:nvPr/>
        </p:nvSpPr>
        <p:spPr>
          <a:xfrm>
            <a:off x="575041" y="4499451"/>
            <a:ext cx="526317" cy="526317"/>
          </a:xfrm>
          <a:prstGeom prst="ellipse">
            <a:avLst/>
          </a:prstGeom>
          <a:solidFill>
            <a:schemeClr val="bg1"/>
          </a:solidFill>
          <a:ln>
            <a:solidFill>
              <a:srgbClr val="005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52" name="Picture 4" descr="pile de papiers photographie à plat">
            <a:extLst>
              <a:ext uri="{FF2B5EF4-FFF2-40B4-BE49-F238E27FC236}">
                <a16:creationId xmlns:a16="http://schemas.microsoft.com/office/drawing/2014/main" id="{6F75765B-C59C-7458-4615-7AD23C1277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676" r="37408"/>
          <a:stretch>
            <a:fillRect/>
          </a:stretch>
        </p:blipFill>
        <p:spPr bwMode="auto">
          <a:xfrm>
            <a:off x="7777219" y="0"/>
            <a:ext cx="4414782" cy="6858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au 9">
            <a:extLst>
              <a:ext uri="{FF2B5EF4-FFF2-40B4-BE49-F238E27FC236}">
                <a16:creationId xmlns:a16="http://schemas.microsoft.com/office/drawing/2014/main" id="{EBB21546-C378-7B36-7C83-29B107A00A93}"/>
              </a:ext>
            </a:extLst>
          </p:cNvPr>
          <p:cNvGraphicFramePr>
            <a:graphicFrameLocks noGrp="1"/>
          </p:cNvGraphicFramePr>
          <p:nvPr>
            <p:extLst>
              <p:ext uri="{D42A27DB-BD31-4B8C-83A1-F6EECF244321}">
                <p14:modId xmlns:p14="http://schemas.microsoft.com/office/powerpoint/2010/main" val="180954698"/>
              </p:ext>
            </p:extLst>
          </p:nvPr>
        </p:nvGraphicFramePr>
        <p:xfrm>
          <a:off x="219070" y="1572953"/>
          <a:ext cx="8515354" cy="2684883"/>
        </p:xfrm>
        <a:graphic>
          <a:graphicData uri="http://schemas.openxmlformats.org/drawingml/2006/table">
            <a:tbl>
              <a:tblPr/>
              <a:tblGrid>
                <a:gridCol w="918010">
                  <a:extLst>
                    <a:ext uri="{9D8B030D-6E8A-4147-A177-3AD203B41FA5}">
                      <a16:colId xmlns:a16="http://schemas.microsoft.com/office/drawing/2014/main" val="3667791317"/>
                    </a:ext>
                  </a:extLst>
                </a:gridCol>
                <a:gridCol w="474834">
                  <a:extLst>
                    <a:ext uri="{9D8B030D-6E8A-4147-A177-3AD203B41FA5}">
                      <a16:colId xmlns:a16="http://schemas.microsoft.com/office/drawing/2014/main" val="4128875207"/>
                    </a:ext>
                  </a:extLst>
                </a:gridCol>
                <a:gridCol w="474834">
                  <a:extLst>
                    <a:ext uri="{9D8B030D-6E8A-4147-A177-3AD203B41FA5}">
                      <a16:colId xmlns:a16="http://schemas.microsoft.com/office/drawing/2014/main" val="3144370664"/>
                    </a:ext>
                  </a:extLst>
                </a:gridCol>
                <a:gridCol w="474834">
                  <a:extLst>
                    <a:ext uri="{9D8B030D-6E8A-4147-A177-3AD203B41FA5}">
                      <a16:colId xmlns:a16="http://schemas.microsoft.com/office/drawing/2014/main" val="3835285980"/>
                    </a:ext>
                  </a:extLst>
                </a:gridCol>
                <a:gridCol w="474834">
                  <a:extLst>
                    <a:ext uri="{9D8B030D-6E8A-4147-A177-3AD203B41FA5}">
                      <a16:colId xmlns:a16="http://schemas.microsoft.com/office/drawing/2014/main" val="797287756"/>
                    </a:ext>
                  </a:extLst>
                </a:gridCol>
                <a:gridCol w="474834">
                  <a:extLst>
                    <a:ext uri="{9D8B030D-6E8A-4147-A177-3AD203B41FA5}">
                      <a16:colId xmlns:a16="http://schemas.microsoft.com/office/drawing/2014/main" val="483727050"/>
                    </a:ext>
                  </a:extLst>
                </a:gridCol>
                <a:gridCol w="474834">
                  <a:extLst>
                    <a:ext uri="{9D8B030D-6E8A-4147-A177-3AD203B41FA5}">
                      <a16:colId xmlns:a16="http://schemas.microsoft.com/office/drawing/2014/main" val="2794205591"/>
                    </a:ext>
                  </a:extLst>
                </a:gridCol>
                <a:gridCol w="474834">
                  <a:extLst>
                    <a:ext uri="{9D8B030D-6E8A-4147-A177-3AD203B41FA5}">
                      <a16:colId xmlns:a16="http://schemas.microsoft.com/office/drawing/2014/main" val="1800923206"/>
                    </a:ext>
                  </a:extLst>
                </a:gridCol>
                <a:gridCol w="474834">
                  <a:extLst>
                    <a:ext uri="{9D8B030D-6E8A-4147-A177-3AD203B41FA5}">
                      <a16:colId xmlns:a16="http://schemas.microsoft.com/office/drawing/2014/main" val="288624738"/>
                    </a:ext>
                  </a:extLst>
                </a:gridCol>
                <a:gridCol w="474834">
                  <a:extLst>
                    <a:ext uri="{9D8B030D-6E8A-4147-A177-3AD203B41FA5}">
                      <a16:colId xmlns:a16="http://schemas.microsoft.com/office/drawing/2014/main" val="2890122147"/>
                    </a:ext>
                  </a:extLst>
                </a:gridCol>
                <a:gridCol w="474834">
                  <a:extLst>
                    <a:ext uri="{9D8B030D-6E8A-4147-A177-3AD203B41FA5}">
                      <a16:colId xmlns:a16="http://schemas.microsoft.com/office/drawing/2014/main" val="2538382249"/>
                    </a:ext>
                  </a:extLst>
                </a:gridCol>
                <a:gridCol w="474834">
                  <a:extLst>
                    <a:ext uri="{9D8B030D-6E8A-4147-A177-3AD203B41FA5}">
                      <a16:colId xmlns:a16="http://schemas.microsoft.com/office/drawing/2014/main" val="2725551902"/>
                    </a:ext>
                  </a:extLst>
                </a:gridCol>
                <a:gridCol w="474834">
                  <a:extLst>
                    <a:ext uri="{9D8B030D-6E8A-4147-A177-3AD203B41FA5}">
                      <a16:colId xmlns:a16="http://schemas.microsoft.com/office/drawing/2014/main" val="1266601241"/>
                    </a:ext>
                  </a:extLst>
                </a:gridCol>
                <a:gridCol w="474834">
                  <a:extLst>
                    <a:ext uri="{9D8B030D-6E8A-4147-A177-3AD203B41FA5}">
                      <a16:colId xmlns:a16="http://schemas.microsoft.com/office/drawing/2014/main" val="2899883782"/>
                    </a:ext>
                  </a:extLst>
                </a:gridCol>
                <a:gridCol w="474834">
                  <a:extLst>
                    <a:ext uri="{9D8B030D-6E8A-4147-A177-3AD203B41FA5}">
                      <a16:colId xmlns:a16="http://schemas.microsoft.com/office/drawing/2014/main" val="2903896984"/>
                    </a:ext>
                  </a:extLst>
                </a:gridCol>
                <a:gridCol w="474834">
                  <a:extLst>
                    <a:ext uri="{9D8B030D-6E8A-4147-A177-3AD203B41FA5}">
                      <a16:colId xmlns:a16="http://schemas.microsoft.com/office/drawing/2014/main" val="2739251016"/>
                    </a:ext>
                  </a:extLst>
                </a:gridCol>
                <a:gridCol w="474834">
                  <a:extLst>
                    <a:ext uri="{9D8B030D-6E8A-4147-A177-3AD203B41FA5}">
                      <a16:colId xmlns:a16="http://schemas.microsoft.com/office/drawing/2014/main" val="1858514153"/>
                    </a:ext>
                  </a:extLst>
                </a:gridCol>
              </a:tblGrid>
              <a:tr h="270864">
                <a:tc>
                  <a:txBody>
                    <a:bodyPr/>
                    <a:lstStyle/>
                    <a:p>
                      <a:pPr algn="l" fontAlgn="b">
                        <a:buNone/>
                      </a:pPr>
                      <a:r>
                        <a:rPr lang="fr-FR" sz="900" b="0" i="0" u="none" strike="noStrike" dirty="0">
                          <a:solidFill>
                            <a:srgbClr val="000000"/>
                          </a:solidFill>
                          <a:effectLst/>
                          <a:latin typeface="Aptos Narrow" panose="020B0004020202020204" pitchFamily="34" charset="0"/>
                        </a:rPr>
                        <a:t> </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gridSpan="5">
                  <a:txBody>
                    <a:bodyPr/>
                    <a:lstStyle/>
                    <a:p>
                      <a:pPr algn="l" fontAlgn="b">
                        <a:buNone/>
                      </a:pPr>
                      <a:r>
                        <a:rPr lang="fr-FR" sz="900" b="1" i="0" u="none" strike="noStrike" dirty="0">
                          <a:solidFill>
                            <a:srgbClr val="000000"/>
                          </a:solidFill>
                          <a:effectLst/>
                          <a:latin typeface="Aptos Narrow" panose="020B0004020202020204" pitchFamily="34" charset="0"/>
                        </a:rPr>
                        <a:t>Juin</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a:txBody>
                    <a:bodyPr/>
                    <a:lstStyle/>
                    <a:p>
                      <a:pPr algn="l" fontAlgn="b">
                        <a:buNone/>
                      </a:pPr>
                      <a:r>
                        <a:rPr lang="fr-FR" sz="900" b="1" i="0" u="none" strike="noStrike">
                          <a:solidFill>
                            <a:srgbClr val="000000"/>
                          </a:solidFill>
                          <a:effectLst/>
                          <a:latin typeface="Aptos Narrow" panose="020B0004020202020204" pitchFamily="34" charset="0"/>
                        </a:rPr>
                        <a:t>Juillet</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900" b="1" i="0" u="none" strike="noStrike">
                          <a:solidFill>
                            <a:srgbClr val="000000"/>
                          </a:solidFill>
                          <a:effectLst/>
                          <a:latin typeface="Aptos Narrow" panose="020B0004020202020204" pitchFamily="34" charset="0"/>
                        </a:rPr>
                        <a:t>Aout</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5">
                  <a:txBody>
                    <a:bodyPr/>
                    <a:lstStyle/>
                    <a:p>
                      <a:pPr algn="l" fontAlgn="b">
                        <a:buNone/>
                      </a:pPr>
                      <a:r>
                        <a:rPr lang="fr-FR" sz="900" b="1" i="0" u="none" strike="noStrike" dirty="0">
                          <a:solidFill>
                            <a:srgbClr val="000000"/>
                          </a:solidFill>
                          <a:effectLst/>
                          <a:latin typeface="Aptos Narrow" panose="020B0004020202020204" pitchFamily="34" charset="0"/>
                        </a:rPr>
                        <a:t>Septembre</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l" fontAlgn="b">
                        <a:buNone/>
                      </a:pPr>
                      <a:r>
                        <a:rPr lang="fr-FR" sz="900" b="1" i="0" u="none" strike="noStrike" dirty="0">
                          <a:solidFill>
                            <a:srgbClr val="000000"/>
                          </a:solidFill>
                          <a:effectLst/>
                          <a:latin typeface="Aptos Narrow" panose="020B0004020202020204" pitchFamily="34" charset="0"/>
                        </a:rPr>
                        <a:t>Octobre</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252428893"/>
                  </a:ext>
                </a:extLst>
              </a:tr>
              <a:tr h="308886">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23</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24</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25</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26</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27</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6" gridSpan="2">
                  <a:txBody>
                    <a:bodyPr/>
                    <a:lstStyle/>
                    <a:p>
                      <a:pPr algn="ctr" fontAlgn="ctr">
                        <a:buNone/>
                      </a:pPr>
                      <a:r>
                        <a:rPr lang="fr-FR" sz="1000" b="0" i="0" u="none" strike="noStrike" dirty="0">
                          <a:solidFill>
                            <a:srgbClr val="000000"/>
                          </a:solidFill>
                          <a:effectLst/>
                          <a:latin typeface="Aptos Narrow" panose="020B0004020202020204" pitchFamily="34" charset="0"/>
                        </a:rPr>
                        <a:t>Congés</a:t>
                      </a:r>
                    </a:p>
                  </a:txBody>
                  <a:tcPr marL="5922" marR="5922" marT="59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rowSpan="6" hMerge="1">
                  <a:txBody>
                    <a:bodyPr/>
                    <a:lstStyle/>
                    <a:p>
                      <a:endParaRPr lang="fr-FR"/>
                    </a:p>
                  </a:txBody>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36</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37</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38</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39</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40</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41</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42</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43</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Semaine 44</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407632259"/>
                  </a:ext>
                </a:extLst>
              </a:tr>
              <a:tr h="257279">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fr-FR" sz="900" b="0" i="0" u="none" strike="noStrike">
                          <a:solidFill>
                            <a:srgbClr val="000000"/>
                          </a:solidFill>
                          <a:effectLst/>
                          <a:latin typeface="Aptos Narrow" panose="020B0004020202020204" pitchFamily="34" charset="0"/>
                        </a:rPr>
                        <a:t>01-juin</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900" b="0" i="0" u="none" strike="noStrike">
                          <a:solidFill>
                            <a:srgbClr val="000000"/>
                          </a:solidFill>
                          <a:effectLst/>
                          <a:latin typeface="Aptos Narrow" panose="020B0004020202020204" pitchFamily="34" charset="0"/>
                        </a:rPr>
                        <a:t>08-juin</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900" b="0" i="0" u="none" strike="noStrike">
                          <a:solidFill>
                            <a:srgbClr val="000000"/>
                          </a:solidFill>
                          <a:effectLst/>
                          <a:latin typeface="Aptos Narrow" panose="020B0004020202020204" pitchFamily="34" charset="0"/>
                        </a:rPr>
                        <a:t>15-juin</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900" b="0" i="0" u="none" strike="noStrike">
                          <a:solidFill>
                            <a:srgbClr val="000000"/>
                          </a:solidFill>
                          <a:effectLst/>
                          <a:latin typeface="Aptos Narrow" panose="020B0004020202020204" pitchFamily="34" charset="0"/>
                        </a:rPr>
                        <a:t>22-juin</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900" b="0" i="0" u="none" strike="noStrike">
                          <a:solidFill>
                            <a:srgbClr val="000000"/>
                          </a:solidFill>
                          <a:effectLst/>
                          <a:latin typeface="Aptos Narrow" panose="020B0004020202020204" pitchFamily="34" charset="0"/>
                        </a:rPr>
                        <a:t>29-juin</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vMerge="1">
                  <a:txBody>
                    <a:bodyPr/>
                    <a:lstStyle/>
                    <a:p>
                      <a:endParaRPr lang="fr-FR"/>
                    </a:p>
                  </a:txBody>
                  <a:tcPr/>
                </a:tc>
                <a:tc hMerge="1" vMerge="1">
                  <a:txBody>
                    <a:bodyPr/>
                    <a:lstStyle/>
                    <a:p>
                      <a:endParaRPr lang="fr-FR"/>
                    </a:p>
                  </a:txBody>
                  <a:tcPr/>
                </a:tc>
                <a:tc>
                  <a:txBody>
                    <a:bodyPr/>
                    <a:lstStyle/>
                    <a:p>
                      <a:pPr algn="ctr" fontAlgn="b">
                        <a:buNone/>
                      </a:pPr>
                      <a:r>
                        <a:rPr lang="fr-FR" sz="900" b="0" i="0" u="none" strike="noStrike" dirty="0">
                          <a:solidFill>
                            <a:srgbClr val="000000"/>
                          </a:solidFill>
                          <a:effectLst/>
                          <a:latin typeface="Aptos Narrow" panose="020B0004020202020204" pitchFamily="34" charset="0"/>
                        </a:rPr>
                        <a:t>31-août</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fr-FR" sz="900" b="0" i="0" u="none" strike="noStrike" dirty="0">
                          <a:solidFill>
                            <a:srgbClr val="000000"/>
                          </a:solidFill>
                          <a:effectLst/>
                          <a:latin typeface="Aptos Narrow" panose="020B0004020202020204" pitchFamily="34" charset="0"/>
                        </a:rPr>
                        <a:t>07-sept</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14-sept</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21-sept</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28-sept</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05-oct</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12-oct</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19-oct</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fr-FR" sz="900" b="0" i="0" u="none" strike="noStrike" dirty="0">
                          <a:solidFill>
                            <a:srgbClr val="000000"/>
                          </a:solidFill>
                          <a:effectLst/>
                          <a:latin typeface="Aptos Narrow" panose="020B0004020202020204" pitchFamily="34" charset="0"/>
                        </a:rPr>
                        <a:t>26-oct</a:t>
                      </a:r>
                    </a:p>
                  </a:txBody>
                  <a:tcPr marL="5922" marR="5922" marT="592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63561579"/>
                  </a:ext>
                </a:extLst>
              </a:tr>
              <a:tr h="304174">
                <a:tc>
                  <a:txBody>
                    <a:bodyPr/>
                    <a:lstStyle/>
                    <a:p>
                      <a:pPr algn="l" fontAlgn="b">
                        <a:buNone/>
                      </a:pPr>
                      <a:r>
                        <a:rPr lang="fr-FR" sz="900" b="0" i="0" u="none" strike="noStrike">
                          <a:solidFill>
                            <a:srgbClr val="000000"/>
                          </a:solidFill>
                          <a:effectLst/>
                          <a:latin typeface="Aptos Narrow" panose="020B0004020202020204" pitchFamily="34" charset="0"/>
                        </a:rPr>
                        <a:t>Collecte des extractions</a:t>
                      </a:r>
                    </a:p>
                  </a:txBody>
                  <a:tcPr marL="5922" marR="5922" marT="592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rgbClr val="E97132"/>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dirty="0">
                          <a:solidFill>
                            <a:srgbClr val="000000"/>
                          </a:solidFill>
                          <a:effectLst/>
                          <a:latin typeface="Aptos Narrow" panose="020B0004020202020204" pitchFamily="34" charset="0"/>
                        </a:rPr>
                        <a:t> </a:t>
                      </a:r>
                    </a:p>
                  </a:txBody>
                  <a:tcPr marL="5922" marR="5922" marT="5922"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gridSpan="2" vMerge="1">
                  <a:txBody>
                    <a:bodyPr/>
                    <a:lstStyle/>
                    <a:p>
                      <a:endParaRPr lang="fr-FR"/>
                    </a:p>
                  </a:txBody>
                  <a:tcPr/>
                </a:tc>
                <a:tc hMerge="1" vMerge="1">
                  <a:txBody>
                    <a:bodyPr/>
                    <a:lstStyle/>
                    <a:p>
                      <a:endParaRPr lang="fr-FR"/>
                    </a:p>
                  </a:txBody>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dirty="0">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chemeClr val="bg1"/>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dirty="0">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dirty="0">
                          <a:solidFill>
                            <a:srgbClr val="000000"/>
                          </a:solidFill>
                          <a:effectLst/>
                          <a:latin typeface="Aptos Narrow" panose="020B0004020202020204" pitchFamily="34" charset="0"/>
                        </a:rPr>
                        <a:t> </a:t>
                      </a:r>
                    </a:p>
                  </a:txBody>
                  <a:tcPr marL="5922" marR="5922" marT="5922"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4173477797"/>
                  </a:ext>
                </a:extLst>
              </a:tr>
              <a:tr h="514560">
                <a:tc>
                  <a:txBody>
                    <a:bodyPr/>
                    <a:lstStyle/>
                    <a:p>
                      <a:pPr algn="l" fontAlgn="b">
                        <a:buNone/>
                      </a:pPr>
                      <a:r>
                        <a:rPr lang="fr-FR" sz="900" b="0" i="0" u="none" strike="noStrike">
                          <a:solidFill>
                            <a:srgbClr val="000000"/>
                          </a:solidFill>
                          <a:effectLst/>
                          <a:latin typeface="Aptos Narrow" panose="020B0004020202020204" pitchFamily="34" charset="0"/>
                        </a:rPr>
                        <a:t>Selection des échantillons</a:t>
                      </a:r>
                    </a:p>
                  </a:txBody>
                  <a:tcPr marL="5922" marR="5922" marT="592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E97132"/>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gridSpan="2" vMerge="1">
                  <a:txBody>
                    <a:bodyPr/>
                    <a:lstStyle/>
                    <a:p>
                      <a:endParaRPr lang="fr-FR"/>
                    </a:p>
                  </a:txBody>
                  <a:tcPr/>
                </a:tc>
                <a:tc hMerge="1" vMerge="1">
                  <a:txBody>
                    <a:bodyPr/>
                    <a:lstStyle/>
                    <a:p>
                      <a:endParaRPr lang="fr-FR"/>
                    </a:p>
                  </a:txBody>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endParaRPr lang="fr-FR" sz="900" b="0" i="0" u="none" strike="noStrike" dirty="0">
                        <a:solidFill>
                          <a:srgbClr val="000000"/>
                        </a:solidFill>
                        <a:effectLst/>
                        <a:latin typeface="Aptos Narrow" panose="020B0004020202020204" pitchFamily="34" charset="0"/>
                      </a:endParaRP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chemeClr val="bg1"/>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dirty="0">
                          <a:solidFill>
                            <a:srgbClr val="000000"/>
                          </a:solidFill>
                          <a:effectLst/>
                          <a:latin typeface="Aptos Narrow" panose="020B0004020202020204" pitchFamily="34" charset="0"/>
                        </a:rPr>
                        <a:t> </a:t>
                      </a:r>
                    </a:p>
                  </a:txBody>
                  <a:tcPr marL="5922" marR="5922" marT="5922"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2574362456"/>
                  </a:ext>
                </a:extLst>
              </a:tr>
              <a:tr h="514560">
                <a:tc>
                  <a:txBody>
                    <a:bodyPr/>
                    <a:lstStyle/>
                    <a:p>
                      <a:pPr algn="l" fontAlgn="b">
                        <a:buNone/>
                      </a:pPr>
                      <a:r>
                        <a:rPr lang="fr-FR" sz="900" b="0" i="0" u="none" strike="noStrike">
                          <a:solidFill>
                            <a:srgbClr val="000000"/>
                          </a:solidFill>
                          <a:effectLst/>
                          <a:latin typeface="Aptos Narrow" panose="020B0004020202020204" pitchFamily="34" charset="0"/>
                        </a:rPr>
                        <a:t>Controle des échantillons</a:t>
                      </a:r>
                    </a:p>
                  </a:txBody>
                  <a:tcPr marL="5922" marR="5922" marT="592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E97132"/>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E97132"/>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noFill/>
                  </a:tcPr>
                </a:tc>
                <a:tc gridSpan="2" vMerge="1">
                  <a:txBody>
                    <a:bodyPr/>
                    <a:lstStyle/>
                    <a:p>
                      <a:endParaRPr lang="fr-FR"/>
                    </a:p>
                  </a:txBody>
                  <a:tcPr/>
                </a:tc>
                <a:tc hMerge="1" vMerge="1">
                  <a:txBody>
                    <a:bodyPr/>
                    <a:lstStyle/>
                    <a:p>
                      <a:endParaRPr lang="fr-FR"/>
                    </a:p>
                  </a:txBody>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l" fontAlgn="b">
                        <a:buNone/>
                      </a:pPr>
                      <a:r>
                        <a:rPr lang="fr-FR" sz="900" b="0" i="0" u="none" strike="noStrike" dirty="0">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94DCF8"/>
                    </a:solidFill>
                  </a:tcPr>
                </a:tc>
                <a:tc>
                  <a:txBody>
                    <a:bodyPr/>
                    <a:lstStyle/>
                    <a:p>
                      <a:pPr algn="l" fontAlgn="b">
                        <a:buNone/>
                      </a:pPr>
                      <a:r>
                        <a:rPr lang="fr-FR" sz="900" b="0" i="0" u="none" strike="noStrike" dirty="0">
                          <a:solidFill>
                            <a:srgbClr val="000000"/>
                          </a:solidFill>
                          <a:effectLst/>
                          <a:latin typeface="Aptos Narrow" panose="020B0004020202020204" pitchFamily="34" charset="0"/>
                        </a:rPr>
                        <a:t> </a:t>
                      </a:r>
                    </a:p>
                  </a:txBody>
                  <a:tcPr marL="5922" marR="5922" marT="5922"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FFFF"/>
                    </a:solidFill>
                  </a:tcPr>
                </a:tc>
                <a:extLst>
                  <a:ext uri="{0D108BD9-81ED-4DB2-BD59-A6C34878D82A}">
                    <a16:rowId xmlns:a16="http://schemas.microsoft.com/office/drawing/2014/main" val="1401512439"/>
                  </a:ext>
                </a:extLst>
              </a:tr>
              <a:tr h="514560">
                <a:tc>
                  <a:txBody>
                    <a:bodyPr/>
                    <a:lstStyle/>
                    <a:p>
                      <a:pPr algn="l" fontAlgn="b">
                        <a:buNone/>
                      </a:pPr>
                      <a:r>
                        <a:rPr lang="fr-FR" sz="900" b="0" i="0" u="none" strike="noStrike">
                          <a:solidFill>
                            <a:srgbClr val="000000"/>
                          </a:solidFill>
                          <a:effectLst/>
                          <a:latin typeface="Aptos Narrow" panose="020B0004020202020204" pitchFamily="34" charset="0"/>
                        </a:rPr>
                        <a:t>Transmission et validation des résultats</a:t>
                      </a:r>
                    </a:p>
                  </a:txBody>
                  <a:tcPr marL="5922" marR="5922" marT="592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fr-FR" sz="900" b="0" i="0" u="none" strike="noStrike" dirty="0">
                          <a:solidFill>
                            <a:srgbClr val="000000"/>
                          </a:solidFill>
                          <a:effectLst/>
                          <a:latin typeface="Aptos Narrow" panose="020B0004020202020204" pitchFamily="34" charset="0"/>
                        </a:rPr>
                        <a:t> </a:t>
                      </a:r>
                    </a:p>
                  </a:txBody>
                  <a:tcPr marL="5922" marR="5922" marT="5922"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gridSpan="2" vMerge="1">
                  <a:txBody>
                    <a:bodyPr/>
                    <a:lstStyle/>
                    <a:p>
                      <a:endParaRPr lang="fr-FR"/>
                    </a:p>
                  </a:txBody>
                  <a:tcPr/>
                </a:tc>
                <a:tc hMerge="1" vMerge="1">
                  <a:txBody>
                    <a:bodyPr/>
                    <a:lstStyle/>
                    <a:p>
                      <a:endParaRPr lang="fr-FR"/>
                    </a:p>
                  </a:txBody>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fr-FR" sz="900" b="0" i="0" u="none" strike="noStrike">
                          <a:solidFill>
                            <a:srgbClr val="000000"/>
                          </a:solidFill>
                          <a:effectLst/>
                          <a:latin typeface="Aptos Narrow" panose="020B0004020202020204" pitchFamily="34" charset="0"/>
                        </a:rPr>
                        <a:t> </a:t>
                      </a:r>
                    </a:p>
                  </a:txBody>
                  <a:tcPr marL="5922" marR="5922" marT="5922" marB="0" anchor="b">
                    <a:lnL>
                      <a:noFill/>
                    </a:lnL>
                    <a:lnR>
                      <a:noFill/>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fr-FR" sz="900" b="0" i="0" u="none" strike="noStrike" dirty="0">
                          <a:solidFill>
                            <a:srgbClr val="000000"/>
                          </a:solidFill>
                          <a:effectLst/>
                          <a:latin typeface="Aptos Narrow" panose="020B0004020202020204" pitchFamily="34" charset="0"/>
                        </a:rPr>
                        <a:t> </a:t>
                      </a:r>
                    </a:p>
                  </a:txBody>
                  <a:tcPr marL="5922" marR="5922" marT="5922"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solid"/>
                      <a:round/>
                      <a:headEnd type="none" w="med" len="med"/>
                      <a:tailEnd type="none" w="med" len="med"/>
                    </a:lnB>
                    <a:solidFill>
                      <a:srgbClr val="94DCF8"/>
                    </a:solidFill>
                  </a:tcPr>
                </a:tc>
                <a:extLst>
                  <a:ext uri="{0D108BD9-81ED-4DB2-BD59-A6C34878D82A}">
                    <a16:rowId xmlns:a16="http://schemas.microsoft.com/office/drawing/2014/main" val="1952930065"/>
                  </a:ext>
                </a:extLst>
              </a:tr>
            </a:tbl>
          </a:graphicData>
        </a:graphic>
      </p:graphicFrame>
      <p:graphicFrame>
        <p:nvGraphicFramePr>
          <p:cNvPr id="11" name="Tableau 10">
            <a:extLst>
              <a:ext uri="{FF2B5EF4-FFF2-40B4-BE49-F238E27FC236}">
                <a16:creationId xmlns:a16="http://schemas.microsoft.com/office/drawing/2014/main" id="{28F9B694-27BB-16CF-C99B-752888E5399A}"/>
              </a:ext>
            </a:extLst>
          </p:cNvPr>
          <p:cNvGraphicFramePr>
            <a:graphicFrameLocks noGrp="1"/>
          </p:cNvGraphicFramePr>
          <p:nvPr>
            <p:extLst>
              <p:ext uri="{D42A27DB-BD31-4B8C-83A1-F6EECF244321}">
                <p14:modId xmlns:p14="http://schemas.microsoft.com/office/powerpoint/2010/main" val="4005308709"/>
              </p:ext>
            </p:extLst>
          </p:nvPr>
        </p:nvGraphicFramePr>
        <p:xfrm>
          <a:off x="8891585" y="3059540"/>
          <a:ext cx="3143254" cy="1931670"/>
        </p:xfrm>
        <a:graphic>
          <a:graphicData uri="http://schemas.openxmlformats.org/drawingml/2006/table">
            <a:tbl>
              <a:tblPr>
                <a:tableStyleId>{5C22544A-7EE6-4342-B048-85BDC9FD1C3A}</a:tableStyleId>
              </a:tblPr>
              <a:tblGrid>
                <a:gridCol w="1758300">
                  <a:extLst>
                    <a:ext uri="{9D8B030D-6E8A-4147-A177-3AD203B41FA5}">
                      <a16:colId xmlns:a16="http://schemas.microsoft.com/office/drawing/2014/main" val="2218280104"/>
                    </a:ext>
                  </a:extLst>
                </a:gridCol>
                <a:gridCol w="1384954">
                  <a:extLst>
                    <a:ext uri="{9D8B030D-6E8A-4147-A177-3AD203B41FA5}">
                      <a16:colId xmlns:a16="http://schemas.microsoft.com/office/drawing/2014/main" val="2917708572"/>
                    </a:ext>
                  </a:extLst>
                </a:gridCol>
              </a:tblGrid>
              <a:tr h="127041">
                <a:tc gridSpan="2">
                  <a:txBody>
                    <a:bodyPr/>
                    <a:lstStyle/>
                    <a:p>
                      <a:pPr algn="ctr" fontAlgn="b">
                        <a:buNone/>
                      </a:pPr>
                      <a:r>
                        <a:rPr lang="fr-FR" sz="1100" b="1" u="none" strike="noStrike" dirty="0">
                          <a:effectLst/>
                        </a:rPr>
                        <a:t>Vague de contrôle 2</a:t>
                      </a:r>
                      <a:endParaRPr lang="fr-FR" sz="1100" b="1" i="0" u="none" strike="noStrike" dirty="0">
                        <a:solidFill>
                          <a:srgbClr val="000000"/>
                        </a:solidFill>
                        <a:effectLst/>
                        <a:latin typeface="Aptos Narrow" panose="020B0004020202020204" pitchFamily="34" charset="0"/>
                      </a:endParaRPr>
                    </a:p>
                  </a:txBody>
                  <a:tcPr marL="9525" marR="9525" marT="9525" marB="0" anchor="b">
                    <a:lnB w="12700" cap="flat" cmpd="sng" algn="ctr">
                      <a:solidFill>
                        <a:schemeClr val="bg2"/>
                      </a:solidFill>
                      <a:prstDash val="solid"/>
                      <a:round/>
                      <a:headEnd type="none" w="med" len="med"/>
                      <a:tailEnd type="none" w="med" len="med"/>
                    </a:lnB>
                    <a:solidFill>
                      <a:srgbClr val="94DCF8"/>
                    </a:solidFill>
                  </a:tcPr>
                </a:tc>
                <a:tc hMerge="1">
                  <a:txBody>
                    <a:bodyPr/>
                    <a:lstStyle/>
                    <a:p>
                      <a:endParaRPr lang="fr-FR"/>
                    </a:p>
                  </a:txBody>
                  <a:tcPr/>
                </a:tc>
                <a:extLst>
                  <a:ext uri="{0D108BD9-81ED-4DB2-BD59-A6C34878D82A}">
                    <a16:rowId xmlns:a16="http://schemas.microsoft.com/office/drawing/2014/main" val="1946913059"/>
                  </a:ext>
                </a:extLst>
              </a:tr>
              <a:tr h="127041">
                <a:tc>
                  <a:txBody>
                    <a:bodyPr/>
                    <a:lstStyle/>
                    <a:p>
                      <a:pPr algn="ctr" fontAlgn="b">
                        <a:buNone/>
                      </a:pPr>
                      <a:r>
                        <a:rPr lang="fr-FR" sz="1100" b="1" u="none" strike="noStrike" dirty="0">
                          <a:effectLst/>
                        </a:rPr>
                        <a:t>Contrôles</a:t>
                      </a:r>
                      <a:endParaRPr lang="fr-FR" sz="11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b">
                        <a:buNone/>
                      </a:pPr>
                      <a:r>
                        <a:rPr lang="fr-FR" sz="1100" b="1" u="none" strike="noStrike" dirty="0">
                          <a:effectLst/>
                        </a:rPr>
                        <a:t>Périmètre</a:t>
                      </a:r>
                      <a:endParaRPr lang="fr-FR" sz="11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389876198"/>
                  </a:ext>
                </a:extLst>
              </a:tr>
              <a:tr h="295063">
                <a:tc>
                  <a:txBody>
                    <a:bodyPr/>
                    <a:lstStyle/>
                    <a:p>
                      <a:pPr algn="l" rtl="0" fontAlgn="ctr">
                        <a:buNone/>
                      </a:pPr>
                      <a:r>
                        <a:rPr lang="fr-FR" sz="1050" u="none" strike="noStrike" dirty="0">
                          <a:effectLst/>
                        </a:rPr>
                        <a:t>2. Communication du Groupe</a:t>
                      </a:r>
                      <a:endParaRPr lang="fr-FR" sz="1050" b="0" i="0" u="none" strike="noStrike" dirty="0">
                        <a:solidFill>
                          <a:srgbClr val="381A0A"/>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fr-FR" sz="1050" u="none" strike="noStrike" dirty="0">
                          <a:effectLst/>
                        </a:rPr>
                        <a:t>DERIOM / DSPS</a:t>
                      </a:r>
                      <a:endParaRPr lang="fr-FR" sz="1050" b="0" i="0" u="none" strike="noStrike" dirty="0">
                        <a:solidFill>
                          <a:srgbClr val="000000"/>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738116280"/>
                  </a:ext>
                </a:extLst>
              </a:tr>
              <a:tr h="295063">
                <a:tc>
                  <a:txBody>
                    <a:bodyPr/>
                    <a:lstStyle/>
                    <a:p>
                      <a:pPr algn="l" rtl="0" fontAlgn="ctr">
                        <a:buNone/>
                      </a:pPr>
                      <a:r>
                        <a:rPr lang="fr-FR" sz="1050" u="none" strike="noStrike" dirty="0">
                          <a:effectLst/>
                        </a:rPr>
                        <a:t>5. Gestion des contrats en phase de recherche </a:t>
                      </a:r>
                      <a:endParaRPr lang="fr-FR" sz="1050" b="0" i="0" u="none" strike="noStrike" dirty="0">
                        <a:solidFill>
                          <a:srgbClr val="381A0A"/>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fr-FR" sz="1050" u="none" strike="noStrike" dirty="0">
                          <a:effectLst/>
                        </a:rPr>
                        <a:t>DERIOM / DSPS</a:t>
                      </a:r>
                      <a:endParaRPr lang="fr-FR" sz="1050" b="0" i="0" u="none" strike="noStrike" dirty="0">
                        <a:solidFill>
                          <a:srgbClr val="000000"/>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280463634"/>
                  </a:ext>
                </a:extLst>
              </a:tr>
              <a:tr h="180316">
                <a:tc>
                  <a:txBody>
                    <a:bodyPr/>
                    <a:lstStyle/>
                    <a:p>
                      <a:pPr algn="l" rtl="0" fontAlgn="ctr">
                        <a:buNone/>
                      </a:pPr>
                      <a:r>
                        <a:rPr lang="fr-FR" sz="1050" u="none" strike="noStrike" dirty="0">
                          <a:effectLst/>
                        </a:rPr>
                        <a:t>6. Clause Bénéficiaire</a:t>
                      </a:r>
                      <a:endParaRPr lang="fr-FR" sz="1050" b="0" i="0" u="none" strike="noStrike" dirty="0">
                        <a:solidFill>
                          <a:srgbClr val="381A0A"/>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fr-FR" sz="1050" u="none" strike="noStrike" dirty="0">
                          <a:effectLst/>
                        </a:rPr>
                        <a:t>DERIOM / DSPS</a:t>
                      </a:r>
                      <a:endParaRPr lang="fr-FR" sz="1050" b="0" i="0" u="none" strike="noStrike" dirty="0">
                        <a:solidFill>
                          <a:srgbClr val="000000"/>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228162708"/>
                  </a:ext>
                </a:extLst>
              </a:tr>
              <a:tr h="180316">
                <a:tc>
                  <a:txBody>
                    <a:bodyPr/>
                    <a:lstStyle/>
                    <a:p>
                      <a:pPr algn="l" rtl="0" fontAlgn="ctr">
                        <a:buNone/>
                      </a:pPr>
                      <a:r>
                        <a:rPr lang="fr-FR" sz="1050" u="none" strike="noStrike" dirty="0">
                          <a:effectLst/>
                        </a:rPr>
                        <a:t>7. Paramétrage BIG BEN</a:t>
                      </a:r>
                      <a:endParaRPr lang="fr-FR" sz="1050" b="0" i="0" u="none" strike="noStrike" dirty="0">
                        <a:solidFill>
                          <a:srgbClr val="381A0A"/>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fr-FR" sz="1050" u="none" strike="noStrike" dirty="0">
                          <a:effectLst/>
                        </a:rPr>
                        <a:t>DERIOM</a:t>
                      </a:r>
                      <a:endParaRPr lang="fr-FR" sz="1050" b="0" i="0" u="none" strike="noStrike" dirty="0">
                        <a:solidFill>
                          <a:srgbClr val="000000"/>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423509199"/>
                  </a:ext>
                </a:extLst>
              </a:tr>
              <a:tr h="180316">
                <a:tc>
                  <a:txBody>
                    <a:bodyPr/>
                    <a:lstStyle/>
                    <a:p>
                      <a:pPr algn="l" rtl="0" fontAlgn="ctr">
                        <a:buNone/>
                      </a:pPr>
                      <a:r>
                        <a:rPr lang="fr-FR" sz="1050" u="none" strike="noStrike" dirty="0">
                          <a:effectLst/>
                        </a:rPr>
                        <a:t>8. Paramétrage ESPECE</a:t>
                      </a:r>
                      <a:endParaRPr lang="fr-FR" sz="1050" b="0" i="0" u="none" strike="noStrike" dirty="0">
                        <a:solidFill>
                          <a:srgbClr val="381A0A"/>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fr-FR" sz="1050" u="none" strike="noStrike" dirty="0">
                          <a:effectLst/>
                        </a:rPr>
                        <a:t>DSPS</a:t>
                      </a:r>
                      <a:endParaRPr lang="fr-FR" sz="1050" b="0" i="0" u="none" strike="noStrike" dirty="0">
                        <a:solidFill>
                          <a:srgbClr val="000000"/>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4064638059"/>
                  </a:ext>
                </a:extLst>
              </a:tr>
            </a:tbl>
          </a:graphicData>
        </a:graphic>
      </p:graphicFrame>
      <p:graphicFrame>
        <p:nvGraphicFramePr>
          <p:cNvPr id="9" name="Tableau 8">
            <a:extLst>
              <a:ext uri="{FF2B5EF4-FFF2-40B4-BE49-F238E27FC236}">
                <a16:creationId xmlns:a16="http://schemas.microsoft.com/office/drawing/2014/main" id="{499395A0-3076-CFC6-E6C3-09C043ED363E}"/>
              </a:ext>
            </a:extLst>
          </p:cNvPr>
          <p:cNvGraphicFramePr>
            <a:graphicFrameLocks noGrp="1"/>
          </p:cNvGraphicFramePr>
          <p:nvPr>
            <p:extLst>
              <p:ext uri="{D42A27DB-BD31-4B8C-83A1-F6EECF244321}">
                <p14:modId xmlns:p14="http://schemas.microsoft.com/office/powerpoint/2010/main" val="962160624"/>
              </p:ext>
            </p:extLst>
          </p:nvPr>
        </p:nvGraphicFramePr>
        <p:xfrm>
          <a:off x="8891585" y="1103812"/>
          <a:ext cx="3143253" cy="1450478"/>
        </p:xfrm>
        <a:graphic>
          <a:graphicData uri="http://schemas.openxmlformats.org/drawingml/2006/table">
            <a:tbl>
              <a:tblPr>
                <a:tableStyleId>{5C22544A-7EE6-4342-B048-85BDC9FD1C3A}</a:tableStyleId>
              </a:tblPr>
              <a:tblGrid>
                <a:gridCol w="1784006">
                  <a:extLst>
                    <a:ext uri="{9D8B030D-6E8A-4147-A177-3AD203B41FA5}">
                      <a16:colId xmlns:a16="http://schemas.microsoft.com/office/drawing/2014/main" val="1794408612"/>
                    </a:ext>
                  </a:extLst>
                </a:gridCol>
                <a:gridCol w="1359247">
                  <a:extLst>
                    <a:ext uri="{9D8B030D-6E8A-4147-A177-3AD203B41FA5}">
                      <a16:colId xmlns:a16="http://schemas.microsoft.com/office/drawing/2014/main" val="375262695"/>
                    </a:ext>
                  </a:extLst>
                </a:gridCol>
              </a:tblGrid>
              <a:tr h="113552">
                <a:tc gridSpan="2">
                  <a:txBody>
                    <a:bodyPr/>
                    <a:lstStyle/>
                    <a:p>
                      <a:pPr algn="ctr" fontAlgn="b">
                        <a:buNone/>
                      </a:pPr>
                      <a:r>
                        <a:rPr lang="fr-FR" sz="1100" b="1" u="none" strike="noStrike" dirty="0">
                          <a:effectLst/>
                        </a:rPr>
                        <a:t>Vague de contrôle 1</a:t>
                      </a:r>
                      <a:endParaRPr lang="fr-FR" sz="1100" b="1" i="0" u="none" strike="noStrike" dirty="0">
                        <a:solidFill>
                          <a:srgbClr val="000000"/>
                        </a:solidFill>
                        <a:effectLst/>
                        <a:latin typeface="Aptos Narrow" panose="020B0004020202020204" pitchFamily="34" charset="0"/>
                      </a:endParaRPr>
                    </a:p>
                  </a:txBody>
                  <a:tcPr marL="9525" marR="9525" marT="9525" marB="0" anchor="b">
                    <a:lnB w="12700" cap="flat" cmpd="sng" algn="ctr">
                      <a:solidFill>
                        <a:schemeClr val="bg2"/>
                      </a:solidFill>
                      <a:prstDash val="solid"/>
                      <a:round/>
                      <a:headEnd type="none" w="med" len="med"/>
                      <a:tailEnd type="none" w="med" len="med"/>
                    </a:lnB>
                    <a:solidFill>
                      <a:srgbClr val="E97132"/>
                    </a:solidFill>
                  </a:tcPr>
                </a:tc>
                <a:tc hMerge="1">
                  <a:txBody>
                    <a:bodyPr/>
                    <a:lstStyle/>
                    <a:p>
                      <a:endParaRPr lang="fr-FR"/>
                    </a:p>
                  </a:txBody>
                  <a:tcPr/>
                </a:tc>
                <a:extLst>
                  <a:ext uri="{0D108BD9-81ED-4DB2-BD59-A6C34878D82A}">
                    <a16:rowId xmlns:a16="http://schemas.microsoft.com/office/drawing/2014/main" val="3396002066"/>
                  </a:ext>
                </a:extLst>
              </a:tr>
              <a:tr h="113552">
                <a:tc>
                  <a:txBody>
                    <a:bodyPr/>
                    <a:lstStyle/>
                    <a:p>
                      <a:pPr algn="ctr" fontAlgn="b">
                        <a:buNone/>
                      </a:pPr>
                      <a:r>
                        <a:rPr lang="fr-FR" sz="1100" b="1" u="none" strike="noStrike" dirty="0">
                          <a:effectLst/>
                        </a:rPr>
                        <a:t>Contrôles</a:t>
                      </a:r>
                      <a:endParaRPr lang="fr-FR" sz="11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fontAlgn="b">
                        <a:buNone/>
                      </a:pPr>
                      <a:r>
                        <a:rPr lang="fr-FR" sz="1100" b="1" u="none" strike="noStrike" dirty="0">
                          <a:effectLst/>
                        </a:rPr>
                        <a:t>Périmètre</a:t>
                      </a:r>
                      <a:endParaRPr lang="fr-FR" sz="1100" b="1"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775108490"/>
                  </a:ext>
                </a:extLst>
              </a:tr>
              <a:tr h="380949">
                <a:tc>
                  <a:txBody>
                    <a:bodyPr/>
                    <a:lstStyle/>
                    <a:p>
                      <a:pPr algn="l" rtl="0" fontAlgn="ctr">
                        <a:buNone/>
                      </a:pPr>
                      <a:r>
                        <a:rPr lang="fr-FR" sz="1050" u="none" strike="noStrike" dirty="0">
                          <a:effectLst/>
                        </a:rPr>
                        <a:t>1. Contrôle du déploiement opérationnel du processus déshérence</a:t>
                      </a:r>
                      <a:endParaRPr lang="fr-FR" sz="1050" b="0" i="0" u="none" strike="noStrike" dirty="0">
                        <a:solidFill>
                          <a:srgbClr val="381A0A"/>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fr-FR" sz="1050" u="none" strike="noStrike" dirty="0">
                          <a:effectLst/>
                        </a:rPr>
                        <a:t>DERIOM / DSPS</a:t>
                      </a:r>
                      <a:endParaRPr lang="fr-FR" sz="1050" b="0" i="0" u="none" strike="noStrike" dirty="0">
                        <a:solidFill>
                          <a:srgbClr val="000000"/>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765790112"/>
                  </a:ext>
                </a:extLst>
              </a:tr>
              <a:tr h="273188">
                <a:tc>
                  <a:txBody>
                    <a:bodyPr/>
                    <a:lstStyle/>
                    <a:p>
                      <a:pPr algn="l" rtl="0" fontAlgn="ctr">
                        <a:buNone/>
                      </a:pPr>
                      <a:r>
                        <a:rPr lang="fr-FR" sz="1050" u="none" strike="noStrike" dirty="0">
                          <a:effectLst/>
                        </a:rPr>
                        <a:t>3. AGIRA 1</a:t>
                      </a:r>
                      <a:endParaRPr lang="fr-FR" sz="1050" b="0" i="0" u="none" strike="noStrike" dirty="0">
                        <a:solidFill>
                          <a:srgbClr val="381A0A"/>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fr-FR" sz="1050" u="none" strike="noStrike" dirty="0">
                          <a:effectLst/>
                        </a:rPr>
                        <a:t>DERIOM / DSPS</a:t>
                      </a:r>
                      <a:endParaRPr lang="fr-FR" sz="1050" b="0" i="0" u="none" strike="noStrike" dirty="0">
                        <a:solidFill>
                          <a:srgbClr val="000000"/>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688851164"/>
                  </a:ext>
                </a:extLst>
              </a:tr>
              <a:tr h="166055">
                <a:tc>
                  <a:txBody>
                    <a:bodyPr/>
                    <a:lstStyle/>
                    <a:p>
                      <a:pPr algn="l" rtl="0" fontAlgn="ctr">
                        <a:buNone/>
                      </a:pPr>
                      <a:r>
                        <a:rPr lang="fr-FR" sz="1050" u="none" strike="noStrike" dirty="0">
                          <a:effectLst/>
                        </a:rPr>
                        <a:t>4. AGIRA 2</a:t>
                      </a:r>
                      <a:endParaRPr lang="fr-FR" sz="1050" b="0" i="0" u="none" strike="noStrike" dirty="0">
                        <a:solidFill>
                          <a:srgbClr val="381A0A"/>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fontAlgn="b">
                        <a:buNone/>
                      </a:pPr>
                      <a:r>
                        <a:rPr lang="fr-FR" sz="1050" u="none" strike="noStrike" dirty="0">
                          <a:effectLst/>
                        </a:rPr>
                        <a:t>DERIOM / DSPS</a:t>
                      </a:r>
                      <a:endParaRPr lang="fr-FR" sz="1050" b="0" i="0" u="none" strike="noStrike" dirty="0">
                        <a:solidFill>
                          <a:srgbClr val="000000"/>
                        </a:solidFill>
                        <a:effectLst/>
                        <a:latin typeface="Aptos Narrow" panose="020B0004020202020204" pitchFamily="34" charset="0"/>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967949915"/>
                  </a:ext>
                </a:extLst>
              </a:tr>
            </a:tbl>
          </a:graphicData>
        </a:graphic>
      </p:graphicFrame>
      <p:pic>
        <p:nvPicPr>
          <p:cNvPr id="13" name="Graphique 12" descr="Boussole contour">
            <a:extLst>
              <a:ext uri="{FF2B5EF4-FFF2-40B4-BE49-F238E27FC236}">
                <a16:creationId xmlns:a16="http://schemas.microsoft.com/office/drawing/2014/main" id="{9A74913B-1495-3FC4-6720-B2C9477767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 y="4534010"/>
            <a:ext cx="457200" cy="457200"/>
          </a:xfrm>
          <a:prstGeom prst="rect">
            <a:avLst/>
          </a:prstGeom>
        </p:spPr>
      </p:pic>
      <p:pic>
        <p:nvPicPr>
          <p:cNvPr id="15" name="Graphique 14" descr="Groupe d’hommes avec un remplissage uni">
            <a:extLst>
              <a:ext uri="{FF2B5EF4-FFF2-40B4-BE49-F238E27FC236}">
                <a16:creationId xmlns:a16="http://schemas.microsoft.com/office/drawing/2014/main" id="{8462C09B-217C-A299-4578-F8008FB785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600" y="5267384"/>
            <a:ext cx="457200" cy="457200"/>
          </a:xfrm>
          <a:prstGeom prst="rect">
            <a:avLst/>
          </a:prstGeom>
        </p:spPr>
      </p:pic>
      <p:pic>
        <p:nvPicPr>
          <p:cNvPr id="16" name="Graphique 15" descr="Calendrier journalier contour">
            <a:extLst>
              <a:ext uri="{FF2B5EF4-FFF2-40B4-BE49-F238E27FC236}">
                <a16:creationId xmlns:a16="http://schemas.microsoft.com/office/drawing/2014/main" id="{701D4D5A-683D-56FE-55FB-7E5804933C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 y="6001554"/>
            <a:ext cx="457200" cy="457200"/>
          </a:xfrm>
          <a:prstGeom prst="rect">
            <a:avLst/>
          </a:prstGeom>
        </p:spPr>
      </p:pic>
      <p:cxnSp>
        <p:nvCxnSpPr>
          <p:cNvPr id="21" name="Connecteur droit 20">
            <a:extLst>
              <a:ext uri="{FF2B5EF4-FFF2-40B4-BE49-F238E27FC236}">
                <a16:creationId xmlns:a16="http://schemas.microsoft.com/office/drawing/2014/main" id="{941AAF00-D430-BEBF-D7AD-E0F32061ECBB}"/>
              </a:ext>
            </a:extLst>
          </p:cNvPr>
          <p:cNvCxnSpPr>
            <a:cxnSpLocks/>
            <a:stCxn id="17" idx="0"/>
          </p:cNvCxnSpPr>
          <p:nvPr/>
        </p:nvCxnSpPr>
        <p:spPr>
          <a:xfrm flipV="1">
            <a:off x="838200" y="4498023"/>
            <a:ext cx="4524375" cy="1428"/>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sp>
        <p:nvSpPr>
          <p:cNvPr id="26" name="ZoneTexte 25">
            <a:extLst>
              <a:ext uri="{FF2B5EF4-FFF2-40B4-BE49-F238E27FC236}">
                <a16:creationId xmlns:a16="http://schemas.microsoft.com/office/drawing/2014/main" id="{36924E8A-5B79-DD15-4866-062390EED006}"/>
              </a:ext>
            </a:extLst>
          </p:cNvPr>
          <p:cNvSpPr txBox="1"/>
          <p:nvPr/>
        </p:nvSpPr>
        <p:spPr>
          <a:xfrm>
            <a:off x="1182323" y="5313121"/>
            <a:ext cx="6680561" cy="461665"/>
          </a:xfrm>
          <a:prstGeom prst="rect">
            <a:avLst/>
          </a:prstGeom>
          <a:noFill/>
        </p:spPr>
        <p:txBody>
          <a:bodyPr wrap="square" rtlCol="0">
            <a:spAutoFit/>
          </a:bodyPr>
          <a:lstStyle/>
          <a:p>
            <a:r>
              <a:rPr lang="fr-FR" sz="1200" dirty="0"/>
              <a:t>Les contrôles seront réalisés par l’équipe conformité en se reposant sur les CRO, les responsables de dispositifs et les interlocuteurs clés définis en amont lors de la construction des contrôles</a:t>
            </a:r>
          </a:p>
        </p:txBody>
      </p:sp>
      <p:sp>
        <p:nvSpPr>
          <p:cNvPr id="27" name="ZoneTexte 26">
            <a:extLst>
              <a:ext uri="{FF2B5EF4-FFF2-40B4-BE49-F238E27FC236}">
                <a16:creationId xmlns:a16="http://schemas.microsoft.com/office/drawing/2014/main" id="{A2F9E5E1-D761-C0D2-E2FA-289A47E250DC}"/>
              </a:ext>
            </a:extLst>
          </p:cNvPr>
          <p:cNvSpPr txBox="1"/>
          <p:nvPr/>
        </p:nvSpPr>
        <p:spPr>
          <a:xfrm>
            <a:off x="1182323" y="6052589"/>
            <a:ext cx="6680561" cy="461665"/>
          </a:xfrm>
          <a:prstGeom prst="rect">
            <a:avLst/>
          </a:prstGeom>
          <a:noFill/>
        </p:spPr>
        <p:txBody>
          <a:bodyPr wrap="square" rtlCol="0">
            <a:spAutoFit/>
          </a:bodyPr>
          <a:lstStyle/>
          <a:p>
            <a:r>
              <a:rPr lang="fr-FR" sz="1200" dirty="0"/>
              <a:t>Les contrôles seront réalisés en deux vagues entre juin et septembre / octobre de l’année sur les différents périmètres en fonction de la charge des contrôles et la possibilité de réalisation</a:t>
            </a:r>
          </a:p>
        </p:txBody>
      </p:sp>
      <p:sp>
        <p:nvSpPr>
          <p:cNvPr id="28" name="ZoneTexte 27">
            <a:extLst>
              <a:ext uri="{FF2B5EF4-FFF2-40B4-BE49-F238E27FC236}">
                <a16:creationId xmlns:a16="http://schemas.microsoft.com/office/drawing/2014/main" id="{11650B15-BE9D-40A7-E485-09C69738E7EC}"/>
              </a:ext>
            </a:extLst>
          </p:cNvPr>
          <p:cNvSpPr txBox="1"/>
          <p:nvPr/>
        </p:nvSpPr>
        <p:spPr>
          <a:xfrm>
            <a:off x="1172798" y="4532071"/>
            <a:ext cx="6680561" cy="646331"/>
          </a:xfrm>
          <a:prstGeom prst="rect">
            <a:avLst/>
          </a:prstGeom>
          <a:noFill/>
        </p:spPr>
        <p:txBody>
          <a:bodyPr wrap="square" rtlCol="0">
            <a:spAutoFit/>
          </a:bodyPr>
          <a:lstStyle/>
          <a:p>
            <a:r>
              <a:rPr lang="fr-FR" sz="1200" dirty="0"/>
              <a:t>Les contrôles ont été définis par la Direction de la conformité en coopération avec le métier. La première vague de contrôle cette année servira notamment à valider la cohérence et l’application opérationnelle des contrôles afin de rendre les contrôles systématiques annuellement</a:t>
            </a:r>
          </a:p>
        </p:txBody>
      </p:sp>
      <p:sp>
        <p:nvSpPr>
          <p:cNvPr id="5" name="Rectangle 4">
            <a:extLst>
              <a:ext uri="{FF2B5EF4-FFF2-40B4-BE49-F238E27FC236}">
                <a16:creationId xmlns:a16="http://schemas.microsoft.com/office/drawing/2014/main" id="{F3566F21-2940-5E87-D2B2-E3B35192D5B8}"/>
              </a:ext>
            </a:extLst>
          </p:cNvPr>
          <p:cNvSpPr/>
          <p:nvPr/>
        </p:nvSpPr>
        <p:spPr>
          <a:xfrm>
            <a:off x="-2" y="307075"/>
            <a:ext cx="7943851" cy="1173707"/>
          </a:xfrm>
          <a:prstGeom prst="rect">
            <a:avLst/>
          </a:prstGeom>
          <a:solidFill>
            <a:srgbClr val="00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itre 1">
            <a:extLst>
              <a:ext uri="{FF2B5EF4-FFF2-40B4-BE49-F238E27FC236}">
                <a16:creationId xmlns:a16="http://schemas.microsoft.com/office/drawing/2014/main" id="{F59FE525-196A-4739-4E04-D62ACA5AB5F6}"/>
              </a:ext>
            </a:extLst>
          </p:cNvPr>
          <p:cNvSpPr txBox="1">
            <a:spLocks/>
          </p:cNvSpPr>
          <p:nvPr/>
        </p:nvSpPr>
        <p:spPr>
          <a:xfrm>
            <a:off x="838200" y="399246"/>
            <a:ext cx="10515600" cy="9382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solidFill>
                  <a:schemeClr val="bg1"/>
                </a:solidFill>
              </a:rPr>
              <a:t>Plan de contrôle</a:t>
            </a:r>
          </a:p>
        </p:txBody>
      </p:sp>
      <p:cxnSp>
        <p:nvCxnSpPr>
          <p:cNvPr id="35" name="Connecteur droit 34">
            <a:extLst>
              <a:ext uri="{FF2B5EF4-FFF2-40B4-BE49-F238E27FC236}">
                <a16:creationId xmlns:a16="http://schemas.microsoft.com/office/drawing/2014/main" id="{D970A541-393E-62B5-8FA7-C7320423737C}"/>
              </a:ext>
            </a:extLst>
          </p:cNvPr>
          <p:cNvCxnSpPr/>
          <p:nvPr/>
        </p:nvCxnSpPr>
        <p:spPr>
          <a:xfrm>
            <a:off x="6448425" y="6512825"/>
            <a:ext cx="0" cy="345175"/>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1830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Connecteur droit 25">
            <a:extLst>
              <a:ext uri="{FF2B5EF4-FFF2-40B4-BE49-F238E27FC236}">
                <a16:creationId xmlns:a16="http://schemas.microsoft.com/office/drawing/2014/main" id="{237B1EE7-72ED-2364-1DD7-E581EA1B8BB7}"/>
              </a:ext>
            </a:extLst>
          </p:cNvPr>
          <p:cNvCxnSpPr>
            <a:cxnSpLocks/>
          </p:cNvCxnSpPr>
          <p:nvPr/>
        </p:nvCxnSpPr>
        <p:spPr>
          <a:xfrm flipH="1">
            <a:off x="838200" y="6705600"/>
            <a:ext cx="3667125" cy="0"/>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25" name="Connecteur droit 24">
            <a:extLst>
              <a:ext uri="{FF2B5EF4-FFF2-40B4-BE49-F238E27FC236}">
                <a16:creationId xmlns:a16="http://schemas.microsoft.com/office/drawing/2014/main" id="{C3349291-0DB8-4D84-EF5A-D544517C93BE}"/>
              </a:ext>
            </a:extLst>
          </p:cNvPr>
          <p:cNvCxnSpPr>
            <a:cxnSpLocks/>
          </p:cNvCxnSpPr>
          <p:nvPr/>
        </p:nvCxnSpPr>
        <p:spPr>
          <a:xfrm>
            <a:off x="847725" y="1600200"/>
            <a:ext cx="0" cy="5105400"/>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pic>
        <p:nvPicPr>
          <p:cNvPr id="4098" name="Picture 2" descr="Panneau d’arrêt rouge et blanc">
            <a:extLst>
              <a:ext uri="{FF2B5EF4-FFF2-40B4-BE49-F238E27FC236}">
                <a16:creationId xmlns:a16="http://schemas.microsoft.com/office/drawing/2014/main" id="{C64FEFE9-7001-8CF0-920E-4210F72E46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344" r="40740"/>
          <a:stretch>
            <a:fillRect/>
          </a:stretch>
        </p:blipFill>
        <p:spPr bwMode="auto">
          <a:xfrm>
            <a:off x="7777213" y="0"/>
            <a:ext cx="4414787"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F905AC7-8F24-D1CC-14B3-5070527F8B7F}"/>
              </a:ext>
            </a:extLst>
          </p:cNvPr>
          <p:cNvSpPr/>
          <p:nvPr/>
        </p:nvSpPr>
        <p:spPr>
          <a:xfrm>
            <a:off x="-2" y="307075"/>
            <a:ext cx="7943851" cy="1173707"/>
          </a:xfrm>
          <a:prstGeom prst="rect">
            <a:avLst/>
          </a:prstGeom>
          <a:solidFill>
            <a:srgbClr val="00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Titre 1">
            <a:extLst>
              <a:ext uri="{FF2B5EF4-FFF2-40B4-BE49-F238E27FC236}">
                <a16:creationId xmlns:a16="http://schemas.microsoft.com/office/drawing/2014/main" id="{A88A355F-C83A-7827-704B-5B96ED423FF6}"/>
              </a:ext>
            </a:extLst>
          </p:cNvPr>
          <p:cNvSpPr txBox="1">
            <a:spLocks/>
          </p:cNvSpPr>
          <p:nvPr/>
        </p:nvSpPr>
        <p:spPr>
          <a:xfrm>
            <a:off x="838200" y="399246"/>
            <a:ext cx="10515600" cy="9382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solidFill>
                  <a:schemeClr val="bg1"/>
                </a:solidFill>
              </a:rPr>
              <a:t>Travaux en cours</a:t>
            </a:r>
          </a:p>
        </p:txBody>
      </p:sp>
      <p:pic>
        <p:nvPicPr>
          <p:cNvPr id="7" name="Image 6">
            <a:extLst>
              <a:ext uri="{FF2B5EF4-FFF2-40B4-BE49-F238E27FC236}">
                <a16:creationId xmlns:a16="http://schemas.microsoft.com/office/drawing/2014/main" id="{DADD64A1-F57B-A9F4-D71D-A45D8EF4FE10}"/>
              </a:ext>
            </a:extLst>
          </p:cNvPr>
          <p:cNvPicPr>
            <a:picLocks noChangeAspect="1"/>
          </p:cNvPicPr>
          <p:nvPr/>
        </p:nvPicPr>
        <p:blipFill>
          <a:blip r:embed="rId3"/>
          <a:stretch>
            <a:fillRect/>
          </a:stretch>
        </p:blipFill>
        <p:spPr>
          <a:xfrm>
            <a:off x="231010" y="2169189"/>
            <a:ext cx="1584061" cy="1482301"/>
          </a:xfrm>
          <a:prstGeom prst="rect">
            <a:avLst/>
          </a:prstGeom>
        </p:spPr>
      </p:pic>
      <p:sp>
        <p:nvSpPr>
          <p:cNvPr id="8" name="ZoneTexte 7">
            <a:extLst>
              <a:ext uri="{FF2B5EF4-FFF2-40B4-BE49-F238E27FC236}">
                <a16:creationId xmlns:a16="http://schemas.microsoft.com/office/drawing/2014/main" id="{3C1456F5-B074-C824-3D7F-F95B022638A2}"/>
              </a:ext>
            </a:extLst>
          </p:cNvPr>
          <p:cNvSpPr txBox="1"/>
          <p:nvPr/>
        </p:nvSpPr>
        <p:spPr>
          <a:xfrm>
            <a:off x="1952625" y="1703436"/>
            <a:ext cx="5687034" cy="2893100"/>
          </a:xfrm>
          <a:prstGeom prst="rect">
            <a:avLst/>
          </a:prstGeom>
          <a:noFill/>
        </p:spPr>
        <p:txBody>
          <a:bodyPr wrap="square" rtlCol="0">
            <a:spAutoFit/>
          </a:bodyPr>
          <a:lstStyle/>
          <a:p>
            <a:r>
              <a:rPr lang="fr-FR" sz="1600" dirty="0"/>
              <a:t>En 2024, une cartographie des risques de déshérence a été définie sur LMRS.</a:t>
            </a:r>
          </a:p>
          <a:p>
            <a:r>
              <a:rPr lang="fr-FR" sz="1600" dirty="0"/>
              <a:t>Nous poursuivons ces travaux en 2026 en déployant la méthodologie de cartographie sur :</a:t>
            </a:r>
          </a:p>
          <a:p>
            <a:pPr marL="285750" indent="-285750">
              <a:buFontTx/>
              <a:buChar char="-"/>
            </a:pPr>
            <a:r>
              <a:rPr lang="fr-FR" sz="1600" dirty="0"/>
              <a:t>Sante Prevoyance</a:t>
            </a:r>
          </a:p>
          <a:p>
            <a:pPr marL="285750" indent="-285750">
              <a:buFontTx/>
              <a:buChar char="-"/>
            </a:pPr>
            <a:r>
              <a:rPr lang="fr-FR" sz="1600" dirty="0"/>
              <a:t>LMP</a:t>
            </a:r>
          </a:p>
          <a:p>
            <a:pPr marL="285750" indent="-285750">
              <a:buFontTx/>
              <a:buChar char="-"/>
            </a:pPr>
            <a:r>
              <a:rPr lang="fr-FR" sz="1600" dirty="0"/>
              <a:t>Via Sante</a:t>
            </a:r>
          </a:p>
          <a:p>
            <a:pPr marL="285750" indent="-285750">
              <a:buFontTx/>
              <a:buChar char="-"/>
            </a:pPr>
            <a:r>
              <a:rPr lang="fr-FR" sz="1600" dirty="0"/>
              <a:t>ACA</a:t>
            </a:r>
          </a:p>
          <a:p>
            <a:r>
              <a:rPr lang="fr-FR" sz="1600" dirty="0"/>
              <a:t>L’apport méthodologique basé sur les travaux réalisés sur LMRS permettent de mutualiser les scénarios et adopter une méthodologie unique en accord avec la DRO.</a:t>
            </a:r>
          </a:p>
        </p:txBody>
      </p:sp>
      <p:sp>
        <p:nvSpPr>
          <p:cNvPr id="9" name="ZoneTexte 8">
            <a:extLst>
              <a:ext uri="{FF2B5EF4-FFF2-40B4-BE49-F238E27FC236}">
                <a16:creationId xmlns:a16="http://schemas.microsoft.com/office/drawing/2014/main" id="{95BE2FD0-F3B0-FE7B-5A1B-5DED0DCDB631}"/>
              </a:ext>
            </a:extLst>
          </p:cNvPr>
          <p:cNvSpPr txBox="1"/>
          <p:nvPr/>
        </p:nvSpPr>
        <p:spPr>
          <a:xfrm>
            <a:off x="3971923" y="2715082"/>
            <a:ext cx="3215350" cy="276999"/>
          </a:xfrm>
          <a:prstGeom prst="rect">
            <a:avLst/>
          </a:prstGeom>
          <a:noFill/>
          <a:ln>
            <a:solidFill>
              <a:srgbClr val="FF0000"/>
            </a:solidFill>
            <a:prstDash val="dash"/>
          </a:ln>
        </p:spPr>
        <p:txBody>
          <a:bodyPr wrap="square" rtlCol="0">
            <a:spAutoFit/>
          </a:bodyPr>
          <a:lstStyle/>
          <a:p>
            <a:pPr algn="ctr"/>
            <a:r>
              <a:rPr lang="fr-FR" sz="1200" dirty="0"/>
              <a:t>Univers de risque défini / cotation à démarrer</a:t>
            </a:r>
          </a:p>
        </p:txBody>
      </p:sp>
      <p:cxnSp>
        <p:nvCxnSpPr>
          <p:cNvPr id="11" name="Connecteur droit 10">
            <a:extLst>
              <a:ext uri="{FF2B5EF4-FFF2-40B4-BE49-F238E27FC236}">
                <a16:creationId xmlns:a16="http://schemas.microsoft.com/office/drawing/2014/main" id="{C4E3F625-53C4-1B0E-0CFE-34F1FDE80E21}"/>
              </a:ext>
            </a:extLst>
          </p:cNvPr>
          <p:cNvCxnSpPr>
            <a:cxnSpLocks/>
          </p:cNvCxnSpPr>
          <p:nvPr/>
        </p:nvCxnSpPr>
        <p:spPr>
          <a:xfrm>
            <a:off x="3314700" y="2967520"/>
            <a:ext cx="0" cy="494429"/>
          </a:xfrm>
          <a:prstGeom prst="line">
            <a:avLst/>
          </a:prstGeom>
        </p:spPr>
        <p:style>
          <a:lnRef idx="2">
            <a:schemeClr val="accent1"/>
          </a:lnRef>
          <a:fillRef idx="0">
            <a:schemeClr val="accent1"/>
          </a:fillRef>
          <a:effectRef idx="1">
            <a:schemeClr val="accent1"/>
          </a:effectRef>
          <a:fontRef idx="minor">
            <a:schemeClr val="tx1"/>
          </a:fontRef>
        </p:style>
      </p:cxnSp>
      <p:sp>
        <p:nvSpPr>
          <p:cNvPr id="13" name="ZoneTexte 12">
            <a:extLst>
              <a:ext uri="{FF2B5EF4-FFF2-40B4-BE49-F238E27FC236}">
                <a16:creationId xmlns:a16="http://schemas.microsoft.com/office/drawing/2014/main" id="{914A9700-3FD8-1D07-9580-016795E5BED7}"/>
              </a:ext>
            </a:extLst>
          </p:cNvPr>
          <p:cNvSpPr txBox="1"/>
          <p:nvPr/>
        </p:nvSpPr>
        <p:spPr>
          <a:xfrm>
            <a:off x="3697495" y="3068881"/>
            <a:ext cx="3703427" cy="276999"/>
          </a:xfrm>
          <a:prstGeom prst="rect">
            <a:avLst/>
          </a:prstGeom>
          <a:noFill/>
          <a:ln>
            <a:solidFill>
              <a:srgbClr val="FF0000"/>
            </a:solidFill>
            <a:prstDash val="dash"/>
          </a:ln>
        </p:spPr>
        <p:txBody>
          <a:bodyPr wrap="square" rtlCol="0">
            <a:spAutoFit/>
          </a:bodyPr>
          <a:lstStyle/>
          <a:p>
            <a:pPr algn="ctr"/>
            <a:r>
              <a:rPr lang="fr-FR" sz="1200" dirty="0"/>
              <a:t>Méthodologie partagée / support pour les travaux</a:t>
            </a:r>
          </a:p>
        </p:txBody>
      </p:sp>
      <p:sp>
        <p:nvSpPr>
          <p:cNvPr id="14" name="ZoneTexte 13">
            <a:extLst>
              <a:ext uri="{FF2B5EF4-FFF2-40B4-BE49-F238E27FC236}">
                <a16:creationId xmlns:a16="http://schemas.microsoft.com/office/drawing/2014/main" id="{82CF57B1-87C2-E8F3-1627-953414C04B18}"/>
              </a:ext>
            </a:extLst>
          </p:cNvPr>
          <p:cNvSpPr txBox="1"/>
          <p:nvPr/>
        </p:nvSpPr>
        <p:spPr>
          <a:xfrm>
            <a:off x="3690989" y="3418765"/>
            <a:ext cx="3703427" cy="276999"/>
          </a:xfrm>
          <a:prstGeom prst="rect">
            <a:avLst/>
          </a:prstGeom>
          <a:noFill/>
          <a:ln>
            <a:solidFill>
              <a:srgbClr val="FF0000"/>
            </a:solidFill>
            <a:prstDash val="dash"/>
          </a:ln>
        </p:spPr>
        <p:txBody>
          <a:bodyPr wrap="square" rtlCol="0">
            <a:spAutoFit/>
          </a:bodyPr>
          <a:lstStyle/>
          <a:p>
            <a:pPr algn="ctr"/>
            <a:r>
              <a:rPr lang="fr-FR" sz="1200" dirty="0"/>
              <a:t>A venir</a:t>
            </a:r>
          </a:p>
        </p:txBody>
      </p:sp>
      <p:pic>
        <p:nvPicPr>
          <p:cNvPr id="16" name="Image 15">
            <a:extLst>
              <a:ext uri="{FF2B5EF4-FFF2-40B4-BE49-F238E27FC236}">
                <a16:creationId xmlns:a16="http://schemas.microsoft.com/office/drawing/2014/main" id="{F2ABFCEC-0290-F499-83C7-8C0A9E2FF8A9}"/>
              </a:ext>
            </a:extLst>
          </p:cNvPr>
          <p:cNvPicPr>
            <a:picLocks noChangeAspect="1"/>
          </p:cNvPicPr>
          <p:nvPr/>
        </p:nvPicPr>
        <p:blipFill>
          <a:blip r:embed="rId4"/>
          <a:srcRect t="18928"/>
          <a:stretch>
            <a:fillRect/>
          </a:stretch>
        </p:blipFill>
        <p:spPr>
          <a:xfrm>
            <a:off x="115897" y="4419385"/>
            <a:ext cx="1836728" cy="1774478"/>
          </a:xfrm>
          <a:prstGeom prst="rect">
            <a:avLst/>
          </a:prstGeom>
        </p:spPr>
      </p:pic>
      <p:sp>
        <p:nvSpPr>
          <p:cNvPr id="18" name="Rectangle : coins arrondis 17">
            <a:extLst>
              <a:ext uri="{FF2B5EF4-FFF2-40B4-BE49-F238E27FC236}">
                <a16:creationId xmlns:a16="http://schemas.microsoft.com/office/drawing/2014/main" id="{9B2FDB1A-A835-8A1D-2AF4-B76E04A0E492}"/>
              </a:ext>
            </a:extLst>
          </p:cNvPr>
          <p:cNvSpPr/>
          <p:nvPr/>
        </p:nvSpPr>
        <p:spPr>
          <a:xfrm>
            <a:off x="231010" y="3781425"/>
            <a:ext cx="1584061" cy="323850"/>
          </a:xfrm>
          <a:prstGeom prst="roundRect">
            <a:avLst/>
          </a:prstGeom>
          <a:solidFill>
            <a:srgbClr val="005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Cartographie des risques</a:t>
            </a:r>
          </a:p>
        </p:txBody>
      </p:sp>
      <p:sp>
        <p:nvSpPr>
          <p:cNvPr id="19" name="Rectangle : coins arrondis 18">
            <a:extLst>
              <a:ext uri="{FF2B5EF4-FFF2-40B4-BE49-F238E27FC236}">
                <a16:creationId xmlns:a16="http://schemas.microsoft.com/office/drawing/2014/main" id="{57CE8D35-90D7-D29E-1E11-808D95C5CFC4}"/>
              </a:ext>
            </a:extLst>
          </p:cNvPr>
          <p:cNvSpPr/>
          <p:nvPr/>
        </p:nvSpPr>
        <p:spPr>
          <a:xfrm>
            <a:off x="231009" y="6266243"/>
            <a:ext cx="1584061" cy="323850"/>
          </a:xfrm>
          <a:prstGeom prst="roundRect">
            <a:avLst/>
          </a:prstGeom>
          <a:solidFill>
            <a:srgbClr val="005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Procédure Groupe</a:t>
            </a:r>
          </a:p>
        </p:txBody>
      </p:sp>
      <p:cxnSp>
        <p:nvCxnSpPr>
          <p:cNvPr id="20" name="Connecteur droit 19">
            <a:extLst>
              <a:ext uri="{FF2B5EF4-FFF2-40B4-BE49-F238E27FC236}">
                <a16:creationId xmlns:a16="http://schemas.microsoft.com/office/drawing/2014/main" id="{13C593D9-E162-76AA-22C3-498B41A3F4A6}"/>
              </a:ext>
            </a:extLst>
          </p:cNvPr>
          <p:cNvCxnSpPr>
            <a:cxnSpLocks/>
          </p:cNvCxnSpPr>
          <p:nvPr/>
        </p:nvCxnSpPr>
        <p:spPr>
          <a:xfrm>
            <a:off x="6477000" y="-6275"/>
            <a:ext cx="0" cy="1606475"/>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23" name="Connecteur droit 22">
            <a:extLst>
              <a:ext uri="{FF2B5EF4-FFF2-40B4-BE49-F238E27FC236}">
                <a16:creationId xmlns:a16="http://schemas.microsoft.com/office/drawing/2014/main" id="{593468E2-18AB-5DFF-DFF0-BB2B33A9CB8A}"/>
              </a:ext>
            </a:extLst>
          </p:cNvPr>
          <p:cNvCxnSpPr/>
          <p:nvPr/>
        </p:nvCxnSpPr>
        <p:spPr>
          <a:xfrm flipH="1">
            <a:off x="838200" y="1590675"/>
            <a:ext cx="5638800" cy="0"/>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E93C787F-4783-EEA2-9D5E-AA88D6F8D24D}"/>
              </a:ext>
            </a:extLst>
          </p:cNvPr>
          <p:cNvCxnSpPr>
            <a:cxnSpLocks/>
          </p:cNvCxnSpPr>
          <p:nvPr/>
        </p:nvCxnSpPr>
        <p:spPr>
          <a:xfrm>
            <a:off x="4505325" y="6705600"/>
            <a:ext cx="0" cy="152400"/>
          </a:xfrm>
          <a:prstGeom prst="line">
            <a:avLst/>
          </a:prstGeom>
          <a:ln>
            <a:solidFill>
              <a:srgbClr val="0052FF"/>
            </a:solidFill>
          </a:ln>
        </p:spPr>
        <p:style>
          <a:lnRef idx="2">
            <a:schemeClr val="accent1"/>
          </a:lnRef>
          <a:fillRef idx="0">
            <a:schemeClr val="accent1"/>
          </a:fillRef>
          <a:effectRef idx="1">
            <a:schemeClr val="accent1"/>
          </a:effectRef>
          <a:fontRef idx="minor">
            <a:schemeClr val="tx1"/>
          </a:fontRef>
        </p:style>
      </p:cxnSp>
      <p:sp>
        <p:nvSpPr>
          <p:cNvPr id="33" name="ZoneTexte 32">
            <a:extLst>
              <a:ext uri="{FF2B5EF4-FFF2-40B4-BE49-F238E27FC236}">
                <a16:creationId xmlns:a16="http://schemas.microsoft.com/office/drawing/2014/main" id="{27F2EAEC-249B-8DE5-8D58-C75B82C33E43}"/>
              </a:ext>
            </a:extLst>
          </p:cNvPr>
          <p:cNvSpPr txBox="1"/>
          <p:nvPr/>
        </p:nvSpPr>
        <p:spPr>
          <a:xfrm>
            <a:off x="1952625" y="4596536"/>
            <a:ext cx="5619745" cy="646331"/>
          </a:xfrm>
          <a:prstGeom prst="rect">
            <a:avLst/>
          </a:prstGeom>
          <a:noFill/>
        </p:spPr>
        <p:txBody>
          <a:bodyPr wrap="square" rtlCol="0">
            <a:spAutoFit/>
          </a:bodyPr>
          <a:lstStyle/>
          <a:p>
            <a:r>
              <a:rPr lang="fr-FR" dirty="0"/>
              <a:t>Unification procédure</a:t>
            </a:r>
          </a:p>
          <a:p>
            <a:r>
              <a:rPr lang="fr-FR" dirty="0"/>
              <a:t>déclinaison</a:t>
            </a:r>
          </a:p>
        </p:txBody>
      </p:sp>
    </p:spTree>
    <p:extLst>
      <p:ext uri="{BB962C8B-B14F-4D97-AF65-F5344CB8AC3E}">
        <p14:creationId xmlns:p14="http://schemas.microsoft.com/office/powerpoint/2010/main" val="3814526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FABD13-EC51-A707-C0FD-B4AA6EC867B8}"/>
              </a:ext>
            </a:extLst>
          </p:cNvPr>
          <p:cNvSpPr>
            <a:spLocks noGrp="1"/>
          </p:cNvSpPr>
          <p:nvPr>
            <p:ph type="title"/>
          </p:nvPr>
        </p:nvSpPr>
        <p:spPr/>
        <p:txBody>
          <a:bodyPr/>
          <a:lstStyle/>
          <a:p>
            <a:r>
              <a:rPr lang="fr-FR" dirty="0"/>
              <a:t>Slide </a:t>
            </a:r>
            <a:r>
              <a:rPr lang="fr-FR" dirty="0" err="1"/>
              <a:t>methodo</a:t>
            </a:r>
            <a:r>
              <a:rPr lang="fr-FR" dirty="0"/>
              <a:t> </a:t>
            </a:r>
            <a:r>
              <a:rPr lang="fr-FR" dirty="0" err="1"/>
              <a:t>carto</a:t>
            </a:r>
            <a:endParaRPr lang="fr-FR" dirty="0"/>
          </a:p>
        </p:txBody>
      </p:sp>
      <p:sp>
        <p:nvSpPr>
          <p:cNvPr id="3" name="Espace réservé du contenu 2">
            <a:extLst>
              <a:ext uri="{FF2B5EF4-FFF2-40B4-BE49-F238E27FC236}">
                <a16:creationId xmlns:a16="http://schemas.microsoft.com/office/drawing/2014/main" id="{E1852988-3D3B-CF86-41D0-7E594889011E}"/>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2789384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A3C52B-8FB4-9851-12E5-E57A05404366}"/>
              </a:ext>
            </a:extLst>
          </p:cNvPr>
          <p:cNvSpPr>
            <a:spLocks noGrp="1"/>
          </p:cNvSpPr>
          <p:nvPr>
            <p:ph type="title"/>
          </p:nvPr>
        </p:nvSpPr>
        <p:spPr/>
        <p:txBody>
          <a:bodyPr/>
          <a:lstStyle/>
          <a:p>
            <a:r>
              <a:rPr lang="fr-FR" dirty="0"/>
              <a:t>Slide procédure</a:t>
            </a:r>
          </a:p>
        </p:txBody>
      </p:sp>
      <p:sp>
        <p:nvSpPr>
          <p:cNvPr id="3" name="Espace réservé du contenu 2">
            <a:extLst>
              <a:ext uri="{FF2B5EF4-FFF2-40B4-BE49-F238E27FC236}">
                <a16:creationId xmlns:a16="http://schemas.microsoft.com/office/drawing/2014/main" id="{17EB2A62-572A-CD9C-CD77-73C13C0199AC}"/>
              </a:ext>
            </a:extLst>
          </p:cNvPr>
          <p:cNvSpPr>
            <a:spLocks noGrp="1"/>
          </p:cNvSpPr>
          <p:nvPr>
            <p:ph idx="1"/>
          </p:nvPr>
        </p:nvSpPr>
        <p:spPr/>
        <p:txBody>
          <a:bodyPr/>
          <a:lstStyle/>
          <a:p>
            <a:r>
              <a:rPr lang="fr-FR" dirty="0"/>
              <a:t>Grande thématique</a:t>
            </a:r>
          </a:p>
          <a:p>
            <a:r>
              <a:rPr lang="fr-FR" dirty="0"/>
              <a:t>Différence politique et procédure (comitologie / détail) – guideline a décliner </a:t>
            </a:r>
            <a:r>
              <a:rPr lang="fr-FR" dirty="0" err="1"/>
              <a:t>etc</a:t>
            </a:r>
            <a:endParaRPr lang="fr-FR" dirty="0"/>
          </a:p>
        </p:txBody>
      </p:sp>
    </p:spTree>
    <p:extLst>
      <p:ext uri="{BB962C8B-B14F-4D97-AF65-F5344CB8AC3E}">
        <p14:creationId xmlns:p14="http://schemas.microsoft.com/office/powerpoint/2010/main" val="486019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90D753-08D9-B616-D19F-98462F657846}"/>
              </a:ext>
            </a:extLst>
          </p:cNvPr>
          <p:cNvSpPr>
            <a:spLocks noGrp="1"/>
          </p:cNvSpPr>
          <p:nvPr>
            <p:ph type="title"/>
          </p:nvPr>
        </p:nvSpPr>
        <p:spPr/>
        <p:txBody>
          <a:bodyPr/>
          <a:lstStyle/>
          <a:p>
            <a:r>
              <a:rPr lang="fr-FR" dirty="0"/>
              <a:t>Travaux en cours</a:t>
            </a:r>
          </a:p>
        </p:txBody>
      </p:sp>
      <p:sp>
        <p:nvSpPr>
          <p:cNvPr id="3" name="Espace réservé du contenu 2">
            <a:extLst>
              <a:ext uri="{FF2B5EF4-FFF2-40B4-BE49-F238E27FC236}">
                <a16:creationId xmlns:a16="http://schemas.microsoft.com/office/drawing/2014/main" id="{B73DF8BE-1C40-5E43-A4F9-AEC6FC02EC86}"/>
              </a:ext>
            </a:extLst>
          </p:cNvPr>
          <p:cNvSpPr>
            <a:spLocks noGrp="1"/>
          </p:cNvSpPr>
          <p:nvPr>
            <p:ph idx="1"/>
          </p:nvPr>
        </p:nvSpPr>
        <p:spPr/>
        <p:txBody>
          <a:bodyPr/>
          <a:lstStyle/>
          <a:p>
            <a:r>
              <a:rPr lang="fr-FR" dirty="0"/>
              <a:t>Carto DSPS / Carto DERIOM</a:t>
            </a:r>
          </a:p>
          <a:p>
            <a:r>
              <a:rPr lang="fr-FR" dirty="0"/>
              <a:t>Base commune  qu’on veut reproduire sur LMP/ACA/VS</a:t>
            </a:r>
          </a:p>
          <a:p>
            <a:r>
              <a:rPr lang="fr-FR" dirty="0"/>
              <a:t>Procédure déshérence</a:t>
            </a:r>
          </a:p>
          <a:p>
            <a:pPr lvl="1"/>
            <a:r>
              <a:rPr lang="fr-FR" dirty="0" err="1"/>
              <a:t>Rexpliquer</a:t>
            </a:r>
            <a:r>
              <a:rPr lang="fr-FR" dirty="0"/>
              <a:t> ce qu’elle apporte par rapport à la politique</a:t>
            </a:r>
          </a:p>
          <a:p>
            <a:pPr lvl="1"/>
            <a:r>
              <a:rPr lang="fr-FR" dirty="0"/>
              <a:t>relancer</a:t>
            </a:r>
          </a:p>
        </p:txBody>
      </p:sp>
    </p:spTree>
    <p:extLst>
      <p:ext uri="{BB962C8B-B14F-4D97-AF65-F5344CB8AC3E}">
        <p14:creationId xmlns:p14="http://schemas.microsoft.com/office/powerpoint/2010/main" val="3401693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9C66D1-5C67-0066-CC58-5AE79E3E521E}"/>
              </a:ext>
            </a:extLst>
          </p:cNvPr>
          <p:cNvSpPr>
            <a:spLocks noGrp="1"/>
          </p:cNvSpPr>
          <p:nvPr>
            <p:ph type="title"/>
          </p:nvPr>
        </p:nvSpPr>
        <p:spPr/>
        <p:txBody>
          <a:bodyPr/>
          <a:lstStyle/>
          <a:p>
            <a:r>
              <a:rPr lang="fr-FR" dirty="0"/>
              <a:t>Next </a:t>
            </a:r>
            <a:r>
              <a:rPr lang="fr-FR" dirty="0" err="1"/>
              <a:t>steps</a:t>
            </a:r>
            <a:r>
              <a:rPr lang="fr-FR" dirty="0"/>
              <a:t> (feuille de route)</a:t>
            </a:r>
          </a:p>
        </p:txBody>
      </p:sp>
      <p:sp>
        <p:nvSpPr>
          <p:cNvPr id="3" name="Espace réservé du contenu 2">
            <a:extLst>
              <a:ext uri="{FF2B5EF4-FFF2-40B4-BE49-F238E27FC236}">
                <a16:creationId xmlns:a16="http://schemas.microsoft.com/office/drawing/2014/main" id="{7CF2B202-86E6-30C8-62F3-EEFF85001EBE}"/>
              </a:ext>
            </a:extLst>
          </p:cNvPr>
          <p:cNvSpPr>
            <a:spLocks noGrp="1"/>
          </p:cNvSpPr>
          <p:nvPr>
            <p:ph idx="1"/>
          </p:nvPr>
        </p:nvSpPr>
        <p:spPr/>
        <p:txBody>
          <a:bodyPr/>
          <a:lstStyle/>
          <a:p>
            <a:r>
              <a:rPr lang="fr-FR" dirty="0"/>
              <a:t>Carto</a:t>
            </a:r>
          </a:p>
          <a:p>
            <a:r>
              <a:rPr lang="fr-FR" dirty="0"/>
              <a:t>Plans d’action</a:t>
            </a:r>
          </a:p>
          <a:p>
            <a:r>
              <a:rPr lang="fr-FR" dirty="0" err="1"/>
              <a:t>Controles</a:t>
            </a:r>
            <a:endParaRPr lang="fr-FR" dirty="0"/>
          </a:p>
          <a:p>
            <a:r>
              <a:rPr lang="fr-FR" dirty="0"/>
              <a:t>Politiques / procédures métiers à décliner</a:t>
            </a:r>
          </a:p>
          <a:p>
            <a:r>
              <a:rPr lang="fr-FR" dirty="0"/>
              <a:t>Décliner des atelier de bonne pratiques entre DSPS et DERIOM à valider </a:t>
            </a:r>
            <a:r>
              <a:rPr lang="fr-FR" dirty="0" err="1"/>
              <a:t>cecile</a:t>
            </a:r>
            <a:r>
              <a:rPr lang="fr-FR" dirty="0"/>
              <a:t> / </a:t>
            </a:r>
            <a:r>
              <a:rPr lang="fr-FR" dirty="0" err="1"/>
              <a:t>deriom</a:t>
            </a:r>
            <a:endParaRPr lang="fr-FR" dirty="0"/>
          </a:p>
        </p:txBody>
      </p:sp>
    </p:spTree>
    <p:extLst>
      <p:ext uri="{BB962C8B-B14F-4D97-AF65-F5344CB8AC3E}">
        <p14:creationId xmlns:p14="http://schemas.microsoft.com/office/powerpoint/2010/main" val="1413722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2551716-98AF-10BA-EE5A-FF3EBBEB9B8C}"/>
              </a:ext>
            </a:extLst>
          </p:cNvPr>
          <p:cNvSpPr>
            <a:spLocks noGrp="1"/>
          </p:cNvSpPr>
          <p:nvPr>
            <p:ph type="body" sz="quarter" idx="10"/>
          </p:nvPr>
        </p:nvSpPr>
        <p:spPr/>
        <p:txBody>
          <a:bodyPr/>
          <a:lstStyle/>
          <a:p>
            <a:endParaRPr lang="fr-FR"/>
          </a:p>
        </p:txBody>
      </p:sp>
      <p:sp>
        <p:nvSpPr>
          <p:cNvPr id="3" name="Espace réservé du texte 2">
            <a:extLst>
              <a:ext uri="{FF2B5EF4-FFF2-40B4-BE49-F238E27FC236}">
                <a16:creationId xmlns:a16="http://schemas.microsoft.com/office/drawing/2014/main" id="{C3ABED92-DC0B-446E-7548-8D81B35B480C}"/>
              </a:ext>
            </a:extLst>
          </p:cNvPr>
          <p:cNvSpPr>
            <a:spLocks noGrp="1"/>
          </p:cNvSpPr>
          <p:nvPr>
            <p:ph type="body" sz="quarter" idx="11"/>
          </p:nvPr>
        </p:nvSpPr>
        <p:spPr/>
        <p:txBody>
          <a:bodyPr/>
          <a:lstStyle/>
          <a:p>
            <a:endParaRPr lang="fr-FR"/>
          </a:p>
        </p:txBody>
      </p:sp>
    </p:spTree>
    <p:extLst>
      <p:ext uri="{BB962C8B-B14F-4D97-AF65-F5344CB8AC3E}">
        <p14:creationId xmlns:p14="http://schemas.microsoft.com/office/powerpoint/2010/main" val="1272739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D13D125-CDF6-63CB-C26E-236ADBCD6B26}"/>
              </a:ext>
            </a:extLst>
          </p:cNvPr>
          <p:cNvSpPr>
            <a:spLocks noGrp="1"/>
          </p:cNvSpPr>
          <p:nvPr>
            <p:ph type="body" sz="quarter" idx="10"/>
          </p:nvPr>
        </p:nvSpPr>
        <p:spPr/>
        <p:txBody>
          <a:bodyPr/>
          <a:lstStyle/>
          <a:p>
            <a:endParaRPr lang="fr-FR"/>
          </a:p>
        </p:txBody>
      </p:sp>
      <p:sp>
        <p:nvSpPr>
          <p:cNvPr id="3" name="Espace réservé du texte 2">
            <a:extLst>
              <a:ext uri="{FF2B5EF4-FFF2-40B4-BE49-F238E27FC236}">
                <a16:creationId xmlns:a16="http://schemas.microsoft.com/office/drawing/2014/main" id="{51538710-5C05-D8D6-83FF-C83F0022F92A}"/>
              </a:ext>
            </a:extLst>
          </p:cNvPr>
          <p:cNvSpPr>
            <a:spLocks noGrp="1"/>
          </p:cNvSpPr>
          <p:nvPr>
            <p:ph type="body" sz="quarter" idx="11"/>
          </p:nvPr>
        </p:nvSpPr>
        <p:spPr/>
        <p:txBody>
          <a:bodyPr/>
          <a:lstStyle/>
          <a:p>
            <a:r>
              <a:rPr lang="fr-FR" dirty="0"/>
              <a:t>Liste des KPI</a:t>
            </a:r>
          </a:p>
        </p:txBody>
      </p:sp>
    </p:spTree>
    <p:extLst>
      <p:ext uri="{BB962C8B-B14F-4D97-AF65-F5344CB8AC3E}">
        <p14:creationId xmlns:p14="http://schemas.microsoft.com/office/powerpoint/2010/main" val="3502072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D14660E-50FE-A983-1FC5-0107AE1C01D2}"/>
              </a:ext>
            </a:extLst>
          </p:cNvPr>
          <p:cNvPicPr>
            <a:picLocks noGrp="1" noRot="1" noChangeAspect="1" noMove="1" noResize="1" noEditPoints="1" noAdjustHandles="1" noChangeArrowheads="1" noChangeShapeType="1" noCrop="1"/>
          </p:cNvPicPr>
          <p:nvPr/>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53D09CF6-B4EF-9544-A527-DC467DA7C7A5}"/>
              </a:ext>
            </a:extLst>
          </p:cNvPr>
          <p:cNvPicPr>
            <a:picLocks noGrp="1" noRot="1" noMove="1" noResize="1" noEditPoints="1" noAdjustHandles="1" noChangeArrowheads="1" noChangeShapeType="1" noCrop="1"/>
          </p:cNvPicPr>
          <p:nvPr/>
        </p:nvPicPr>
        <p:blipFill>
          <a:blip r:embed="rId3"/>
          <a:stretch>
            <a:fillRect/>
          </a:stretch>
        </p:blipFill>
        <p:spPr>
          <a:xfrm>
            <a:off x="549731" y="5361430"/>
            <a:ext cx="4322397" cy="941399"/>
          </a:xfrm>
          <a:prstGeom prst="rect">
            <a:avLst/>
          </a:prstGeom>
        </p:spPr>
      </p:pic>
      <p:sp>
        <p:nvSpPr>
          <p:cNvPr id="7" name="TextBox 6">
            <a:extLst>
              <a:ext uri="{FF2B5EF4-FFF2-40B4-BE49-F238E27FC236}">
                <a16:creationId xmlns:a16="http://schemas.microsoft.com/office/drawing/2014/main" id="{D34AAC7D-D9CE-7FAC-6080-984CEFDA3BDB}"/>
              </a:ext>
            </a:extLst>
          </p:cNvPr>
          <p:cNvSpPr txBox="1">
            <a:spLocks noGrp="1" noRot="1" noMove="1" noResize="1" noEditPoints="1" noAdjustHandles="1" noChangeArrowheads="1" noChangeShapeType="1"/>
          </p:cNvSpPr>
          <p:nvPr/>
        </p:nvSpPr>
        <p:spPr>
          <a:xfrm>
            <a:off x="10603376" y="6105279"/>
            <a:ext cx="1149674" cy="261610"/>
          </a:xfrm>
          <a:prstGeom prst="rect">
            <a:avLst/>
          </a:prstGeom>
          <a:noFill/>
        </p:spPr>
        <p:txBody>
          <a:bodyPr wrap="none" rtlCol="0">
            <a:spAutoFit/>
          </a:bodyPr>
          <a:lstStyle/>
          <a:p>
            <a:r>
              <a:rPr lang="en-US" sz="1100" b="1">
                <a:solidFill>
                  <a:srgbClr val="381A09"/>
                </a:solidFill>
                <a:latin typeface="Arial Black" panose="020B0604020202020204" pitchFamily="34" charset="0"/>
                <a:cs typeface="Arial Black" panose="020B0604020202020204" pitchFamily="34" charset="0"/>
              </a:rPr>
              <a:t>XX.XX.XXXX</a:t>
            </a:r>
          </a:p>
        </p:txBody>
      </p:sp>
    </p:spTree>
    <p:extLst>
      <p:ext uri="{BB962C8B-B14F-4D97-AF65-F5344CB8AC3E}">
        <p14:creationId xmlns:p14="http://schemas.microsoft.com/office/powerpoint/2010/main" val="136684741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5290</TotalTime>
  <Words>1557</Words>
  <Application>Microsoft Office PowerPoint</Application>
  <PresentationFormat>Grand écran</PresentationFormat>
  <Paragraphs>244</Paragraphs>
  <Slides>18</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18</vt:i4>
      </vt:variant>
    </vt:vector>
  </HeadingPairs>
  <TitlesOfParts>
    <vt:vector size="24" baseType="lpstr">
      <vt:lpstr>Aptos</vt:lpstr>
      <vt:lpstr>Aptos Display</vt:lpstr>
      <vt:lpstr>Aptos Narrow</vt:lpstr>
      <vt:lpstr>Arial</vt:lpstr>
      <vt:lpstr>Arial Black</vt:lpstr>
      <vt:lpstr>Thème Office</vt:lpstr>
      <vt:lpstr>Comité déshérence 15 juin 2026</vt:lpstr>
      <vt:lpstr>Présentation PowerPoint</vt:lpstr>
      <vt:lpstr>Actualité</vt:lpstr>
      <vt:lpstr>Présentation PowerPoint</vt:lpstr>
      <vt:lpstr>Présentation PowerPoint</vt:lpstr>
      <vt:lpstr>Reporting réglementaire</vt:lpstr>
      <vt:lpstr>Présentation PowerPoint</vt:lpstr>
      <vt:lpstr>Présentation audit flash et plan d’action ACPR</vt:lpstr>
      <vt:lpstr>Présentation PowerPoint</vt:lpstr>
      <vt:lpstr>Présentation PowerPoint</vt:lpstr>
      <vt:lpstr>Présentation PowerPoint</vt:lpstr>
      <vt:lpstr>Slide methodo carto</vt:lpstr>
      <vt:lpstr>Slide procédure</vt:lpstr>
      <vt:lpstr>Travaux en cours</vt:lpstr>
      <vt:lpstr>Next steps (feuille de route)</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WILFRID Adrien</dc:creator>
  <cp:lastModifiedBy>WILFRID Adrien</cp:lastModifiedBy>
  <cp:revision>8</cp:revision>
  <dcterms:created xsi:type="dcterms:W3CDTF">2026-06-05T16:02:14Z</dcterms:created>
  <dcterms:modified xsi:type="dcterms:W3CDTF">2026-06-09T08:36:55Z</dcterms:modified>
</cp:coreProperties>
</file>